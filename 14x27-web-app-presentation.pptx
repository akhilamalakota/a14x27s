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995160" y="502920"/>
            <a:ext cx="0" cy="5696712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7498080" y="502920"/>
            <a:ext cx="0" cy="5696712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001000" y="502920"/>
            <a:ext cx="0" cy="5696712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503920" y="502920"/>
            <a:ext cx="0" cy="5696712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06840" y="502920"/>
            <a:ext cx="0" cy="5696712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509760" y="502920"/>
            <a:ext cx="0" cy="5696712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012680" y="502920"/>
            <a:ext cx="0" cy="5696712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515600" y="502920"/>
            <a:ext cx="0" cy="5696712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766560" y="594360"/>
            <a:ext cx="4892040" cy="0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766560" y="1179576"/>
            <a:ext cx="4892040" cy="0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766560" y="1764792"/>
            <a:ext cx="4892040" cy="0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66560" y="2350008"/>
            <a:ext cx="4892040" cy="0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766560" y="2935224"/>
            <a:ext cx="4892040" cy="0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66560" y="3520440"/>
            <a:ext cx="4892040" cy="0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766560" y="4105656"/>
            <a:ext cx="4892040" cy="0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766560" y="4690872"/>
            <a:ext cx="4892040" cy="0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66560" y="5276088"/>
            <a:ext cx="4892040" cy="0"/>
          </a:xfrm>
          <a:prstGeom prst="line">
            <a:avLst/>
          </a:prstGeom>
          <a:ln w="5715">
            <a:solidFill>
              <a:srgbClr val="17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26679" y="1207008"/>
            <a:ext cx="3017520" cy="4133087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1" y="149961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3ADB7"/>
                </a:solidFill>
                <a:latin typeface="DejaVu Sans Mono"/>
              </a:rPr>
              <a:t>VAULT / 001</a:t>
            </a:r>
          </a:p>
        </p:txBody>
      </p:sp>
      <p:sp>
        <p:nvSpPr>
          <p:cNvPr id="21" name="Oval 20"/>
          <p:cNvSpPr/>
          <p:nvPr/>
        </p:nvSpPr>
        <p:spPr>
          <a:xfrm>
            <a:off x="9857232" y="1481328"/>
            <a:ext cx="100584" cy="100584"/>
          </a:xfrm>
          <a:prstGeom prst="ellipse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0" y="1490472"/>
            <a:ext cx="56692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D5FF6D"/>
                </a:solidFill>
                <a:latin typeface="Inter"/>
              </a:rPr>
              <a:t>SECURE SESSION</a:t>
            </a:r>
          </a:p>
        </p:txBody>
      </p:sp>
      <p:sp>
        <p:nvSpPr>
          <p:cNvPr id="23" name="Oval 22"/>
          <p:cNvSpPr/>
          <p:nvPr/>
        </p:nvSpPr>
        <p:spPr>
          <a:xfrm>
            <a:off x="8549640" y="2011680"/>
            <a:ext cx="1417320" cy="1417320"/>
          </a:xfrm>
          <a:prstGeom prst="ellipse">
            <a:avLst/>
          </a:prstGeom>
          <a:solidFill>
            <a:srgbClr val="1D252E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rc 23"/>
          <p:cNvSpPr/>
          <p:nvPr/>
        </p:nvSpPr>
        <p:spPr>
          <a:xfrm>
            <a:off x="8933688" y="2286000"/>
            <a:ext cx="658368" cy="786384"/>
          </a:xfrm>
          <a:prstGeom prst="arc">
            <a:avLst/>
          </a:prstGeom>
          <a:noFill/>
          <a:ln w="12700">
            <a:solidFill>
              <a:srgbClr val="D5F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87968" y="2679192"/>
            <a:ext cx="749808" cy="621792"/>
          </a:xfrm>
          <a:prstGeom prst="roundRect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80576" y="2880360"/>
            <a:ext cx="155448" cy="155448"/>
          </a:xfrm>
          <a:prstGeom prst="ellipse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0868" y="3008376"/>
            <a:ext cx="54864" cy="164592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028431" y="3630168"/>
            <a:ext cx="2414017" cy="0"/>
          </a:xfrm>
          <a:prstGeom prst="line">
            <a:avLst/>
          </a:prstGeom>
          <a:ln w="762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065008" y="3694176"/>
            <a:ext cx="777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40">
                <a:solidFill>
                  <a:srgbClr val="74808B"/>
                </a:solidFill>
                <a:latin typeface="Inter"/>
              </a:rPr>
              <a:t>WEBSITE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3685032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3ADB7"/>
                </a:solidFill>
                <a:latin typeface="DejaVu Sans Mono"/>
              </a:rPr>
              <a:t>••••••••••••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028431" y="4032504"/>
            <a:ext cx="2414017" cy="0"/>
          </a:xfrm>
          <a:prstGeom prst="line">
            <a:avLst/>
          </a:prstGeom>
          <a:ln w="762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065008" y="4096512"/>
            <a:ext cx="777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40">
                <a:solidFill>
                  <a:srgbClr val="74808B"/>
                </a:solidFill>
                <a:latin typeface="Inter"/>
              </a:rPr>
              <a:t>USERNAME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9408" y="408736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3ADB7"/>
                </a:solidFill>
                <a:latin typeface="DejaVu Sans Mono"/>
              </a:rPr>
              <a:t>••••••••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028431" y="4434840"/>
            <a:ext cx="2414017" cy="0"/>
          </a:xfrm>
          <a:prstGeom prst="line">
            <a:avLst/>
          </a:prstGeom>
          <a:ln w="762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065008" y="4498848"/>
            <a:ext cx="7772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40">
                <a:solidFill>
                  <a:srgbClr val="74808B"/>
                </a:solidFill>
                <a:latin typeface="Inter"/>
              </a:rPr>
              <a:t>PASSWORD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9408" y="4489704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3ADB7"/>
                </a:solidFill>
                <a:latin typeface="DejaVu Sans Mono"/>
              </a:rPr>
              <a:t>● ● ● ● ● ● ● 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713232"/>
            <a:ext cx="1417320" cy="256032"/>
          </a:xfrm>
          <a:prstGeom prst="roundRect">
            <a:avLst/>
          </a:prstGeom>
          <a:solidFill>
            <a:srgbClr val="17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768096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45">
                <a:solidFill>
                  <a:srgbClr val="D5FF6D"/>
                </a:solidFill>
                <a:latin typeface="Inter"/>
              </a:rPr>
              <a:t>PRODUCT CONCEPT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" y="1325880"/>
            <a:ext cx="5303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500" b="1" i="0">
                <a:solidFill>
                  <a:srgbClr val="F5F7FA"/>
                </a:solidFill>
                <a:latin typeface="Inter Display"/>
              </a:rPr>
              <a:t>14x27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2331720"/>
            <a:ext cx="557784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F7FA"/>
                </a:solidFill>
                <a:latin typeface="Inter Display"/>
              </a:rPr>
              <a:t>Every secret.
One vault. Your control.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3822191"/>
            <a:ext cx="685800" cy="54864"/>
          </a:xfrm>
          <a:prstGeom prst="rect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096512"/>
            <a:ext cx="5257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3ADB7"/>
                </a:solidFill>
                <a:latin typeface="Inter"/>
              </a:rPr>
              <a:t>A privacy-first password manager for everyday
logins, developer secrets and safer habits.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879592"/>
            <a:ext cx="4480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70">
                <a:solidFill>
                  <a:srgbClr val="74808B"/>
                </a:solidFill>
                <a:latin typeface="Inter"/>
              </a:rPr>
              <a:t>WEB APP DIRECTION  /  OCTOBER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92531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 spc="50">
                <a:solidFill>
                  <a:srgbClr val="FFC76B"/>
                </a:solidFill>
                <a:latin typeface="Inter"/>
              </a:rPr>
              <a:t>IN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5FF6D"/>
                </a:solidFill>
                <a:latin typeface="Inter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7FA"/>
                </a:solidFill>
                <a:latin typeface="Inter Display"/>
              </a:rPr>
              <a:t>Credential security is fragmented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ADB7"/>
                </a:solidFill>
                <a:latin typeface="Inter"/>
              </a:rPr>
              <a:t>People manage more identities, but their security habits and tools are still disconnected.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5321808" cy="1664208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56815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7185"/>
                </a:solidFill>
                <a:latin typeface="DejaVu San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938528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Inter Display"/>
              </a:rPr>
              <a:t>Password reuse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386584"/>
            <a:ext cx="397763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3ADB7"/>
                </a:solidFill>
                <a:latin typeface="Inter"/>
              </a:rPr>
              <a:t>One weak or reused password can turn a single leak into multiple account risks.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3017520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70">
                <a:solidFill>
                  <a:srgbClr val="FF7185"/>
                </a:solidFill>
                <a:latin typeface="Inter"/>
              </a:rPr>
              <a:t>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737360"/>
            <a:ext cx="5321808" cy="1664208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56815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C76B"/>
                </a:solidFill>
                <a:latin typeface="DejaVu Sa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77456" y="1938528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Inter Display"/>
              </a:rPr>
              <a:t>Credential sprawl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7456" y="2386584"/>
            <a:ext cx="397763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3ADB7"/>
                </a:solidFill>
                <a:latin typeface="Inter"/>
              </a:rPr>
              <a:t>Logins, API keys, recovery notes and project secrets end up in different places.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456" y="3017520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70">
                <a:solidFill>
                  <a:srgbClr val="FFC76B"/>
                </a:solidFill>
                <a:latin typeface="Inter"/>
              </a:rPr>
              <a:t>FRAGMENTATION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730752"/>
            <a:ext cx="5321808" cy="1664208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95020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CE5E8"/>
                </a:solidFill>
                <a:latin typeface="DejaVu Sans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393192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Inter Display"/>
              </a:rPr>
              <a:t>Developer exposure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4379976"/>
            <a:ext cx="397763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3ADB7"/>
                </a:solidFill>
                <a:latin typeface="Inter"/>
              </a:rPr>
              <a:t>Tokens and environment credentials need context, ownership and rotation reminders.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5010912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70">
                <a:solidFill>
                  <a:srgbClr val="6CE5E8"/>
                </a:solidFill>
                <a:latin typeface="Inter"/>
              </a:rPr>
              <a:t>CONTEXT 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730752"/>
            <a:ext cx="5321808" cy="1664208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950208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5FF6D"/>
                </a:solidFill>
                <a:latin typeface="DejaVu Sans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7456" y="393192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Inter Display"/>
              </a:rPr>
              <a:t>Trust vs. convenience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77456" y="4379976"/>
            <a:ext cx="3977639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3ADB7"/>
                </a:solidFill>
                <a:latin typeface="Inter"/>
              </a:rPr>
              <a:t>People want quick access—but not at the cost of losing control of sensitive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6" y="5010912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70">
                <a:solidFill>
                  <a:srgbClr val="D5FF6D"/>
                </a:solidFill>
                <a:latin typeface="Inter"/>
              </a:rPr>
              <a:t>TRADE-OFF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1792" y="6547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FF6D"/>
                </a:solidFill>
                <a:latin typeface="Inter Display"/>
              </a:rPr>
              <a:t>14x27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0">
                <a:solidFill>
                  <a:srgbClr val="74808B"/>
                </a:solidFill>
                <a:latin typeface="Inter"/>
              </a:rPr>
              <a:t>PRODUCT VISION • WEB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3ADB7"/>
                </a:solidFill>
                <a:latin typeface="DejaVu Sa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5FF6D"/>
                </a:solidFill>
                <a:latin typeface="Inter"/>
              </a:rPr>
              <a:t>02 / 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7FA"/>
                </a:solidFill>
                <a:latin typeface="Inter Display"/>
              </a:rPr>
              <a:t>One calm home for sensitive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ADB7"/>
                </a:solidFill>
                <a:latin typeface="Inter"/>
              </a:rPr>
              <a:t>14x27 brings credential management and security hygiene into a single, deliberate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755648"/>
            <a:ext cx="48920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5F7FA"/>
                </a:solidFill>
                <a:latin typeface="Inter Display"/>
              </a:rPr>
              <a:t>Not just a place to save passwords.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14016"/>
            <a:ext cx="452628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3ADB7"/>
                </a:solidFill>
                <a:latin typeface="Inter"/>
              </a:rPr>
              <a:t>A local-first vault concept that helps people store credentials, generate stronger secrets, organize developer access and understand where their hygiene can improve.</a:t>
            </a:r>
          </a:p>
        </p:txBody>
      </p:sp>
      <p:sp>
        <p:nvSpPr>
          <p:cNvPr id="7" name="Oval 6"/>
          <p:cNvSpPr/>
          <p:nvPr/>
        </p:nvSpPr>
        <p:spPr>
          <a:xfrm>
            <a:off x="740664" y="3730752"/>
            <a:ext cx="164592" cy="164592"/>
          </a:xfrm>
          <a:prstGeom prst="ellipse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703320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7FA"/>
                </a:solidFill>
                <a:latin typeface="Inter"/>
              </a:rPr>
              <a:t>Private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703320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Sensitive fields are intended to be encrypted before persistence.</a:t>
            </a:r>
          </a:p>
        </p:txBody>
      </p:sp>
      <p:sp>
        <p:nvSpPr>
          <p:cNvPr id="10" name="Oval 9"/>
          <p:cNvSpPr/>
          <p:nvPr/>
        </p:nvSpPr>
        <p:spPr>
          <a:xfrm>
            <a:off x="740664" y="4361688"/>
            <a:ext cx="164592" cy="164592"/>
          </a:xfrm>
          <a:prstGeom prst="ellipse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334256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7FA"/>
                </a:solidFill>
                <a:latin typeface="Inter"/>
              </a:rPr>
              <a:t>Useful every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4334256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Fast search, generation, collections and safe copy workflows.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" y="4992624"/>
            <a:ext cx="164592" cy="164592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965192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F7FA"/>
                </a:solidFill>
                <a:latin typeface="Inter"/>
              </a:rPr>
              <a:t>Built for builders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965192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Developer secrets live beside everyday website credentials—without losing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1737360"/>
            <a:ext cx="5440680" cy="41605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6168" y="1755648"/>
            <a:ext cx="5404104" cy="310896"/>
          </a:xfrm>
          <a:prstGeom prst="rect">
            <a:avLst/>
          </a:prstGeom>
          <a:solidFill>
            <a:srgbClr val="17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3328" y="1865376"/>
            <a:ext cx="64008" cy="64008"/>
          </a:xfrm>
          <a:prstGeom prst="ellipse">
            <a:avLst/>
          </a:prstGeom>
          <a:solidFill>
            <a:srgbClr val="FF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99632" y="1865376"/>
            <a:ext cx="64008" cy="64008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45936" y="1865376"/>
            <a:ext cx="64008" cy="64008"/>
          </a:xfrm>
          <a:prstGeom prst="ellipse">
            <a:avLst/>
          </a:prstGeom>
          <a:solidFill>
            <a:srgbClr val="88E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92824" y="1828800"/>
            <a:ext cx="41605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3ADB7"/>
                </a:solidFill>
                <a:latin typeface="Inter"/>
              </a:rPr>
              <a:t>14x27  / 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828800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 spc="25">
                <a:solidFill>
                  <a:srgbClr val="D5FF6D"/>
                </a:solidFill>
                <a:latin typeface="Inter"/>
              </a:rPr>
              <a:t>UNLOCKED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22128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Inter Display"/>
              </a:rPr>
              <a:t>Your vault, at a glance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60320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ADB7"/>
                </a:solidFill>
                <a:latin typeface="Inter"/>
              </a:rPr>
              <a:t>A quick view of what needs attention.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990088"/>
            <a:ext cx="1353312" cy="850392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3136392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D5FF6D"/>
                </a:solidFill>
                <a:latin typeface="Inter Display"/>
              </a:rPr>
              <a:t>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3511296"/>
            <a:ext cx="11155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35">
                <a:solidFill>
                  <a:srgbClr val="A3ADB7"/>
                </a:solidFill>
                <a:latin typeface="Inter"/>
              </a:rPr>
              <a:t>ENTRIES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90688" y="2990088"/>
            <a:ext cx="1353312" cy="850392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136392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C76B"/>
                </a:solidFill>
                <a:latin typeface="Inter Display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8704" y="3511296"/>
            <a:ext cx="11155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35">
                <a:solidFill>
                  <a:srgbClr val="A3ADB7"/>
                </a:solidFill>
                <a:latin typeface="Inter"/>
              </a:rPr>
              <a:t>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63456" y="2990088"/>
            <a:ext cx="1353312" cy="850392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91472" y="3136392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6CE5E8"/>
                </a:solidFill>
                <a:latin typeface="Inter Display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1472" y="3511296"/>
            <a:ext cx="1115568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35">
                <a:solidFill>
                  <a:srgbClr val="A3ADB7"/>
                </a:solidFill>
                <a:latin typeface="Inter"/>
              </a:rPr>
              <a:t>DEV SECRETS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36208" y="4133087"/>
            <a:ext cx="1600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50">
                <a:solidFill>
                  <a:srgbClr val="74808B"/>
                </a:solidFill>
                <a:latin typeface="Inter"/>
              </a:rPr>
              <a:t>RECENTLY UPDATED</a:t>
            </a:r>
          </a:p>
        </p:txBody>
      </p:sp>
      <p:sp>
        <p:nvSpPr>
          <p:cNvPr id="35" name="Oval 34"/>
          <p:cNvSpPr/>
          <p:nvPr/>
        </p:nvSpPr>
        <p:spPr>
          <a:xfrm>
            <a:off x="6254496" y="4453128"/>
            <a:ext cx="182880" cy="182880"/>
          </a:xfrm>
          <a:prstGeom prst="ellipse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47104" y="4425696"/>
            <a:ext cx="21031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7FA"/>
                </a:solidFill>
                <a:latin typeface="Inter"/>
              </a:rPr>
              <a:t>College Portal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8" y="4443983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 spc="25">
                <a:solidFill>
                  <a:srgbClr val="A3ADB7"/>
                </a:solidFill>
                <a:latin typeface="Inter"/>
              </a:rPr>
              <a:t>WEBSITE</a:t>
            </a:r>
          </a:p>
        </p:txBody>
      </p:sp>
      <p:sp>
        <p:nvSpPr>
          <p:cNvPr id="38" name="Oval 37"/>
          <p:cNvSpPr/>
          <p:nvPr/>
        </p:nvSpPr>
        <p:spPr>
          <a:xfrm>
            <a:off x="6254496" y="4818888"/>
            <a:ext cx="182880" cy="182880"/>
          </a:xfrm>
          <a:prstGeom prst="ellipse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47104" y="4791456"/>
            <a:ext cx="21031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7FA"/>
                </a:solidFill>
                <a:latin typeface="Inter"/>
              </a:rPr>
              <a:t>GitHub Sandbox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0928" y="4809744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 spc="25">
                <a:solidFill>
                  <a:srgbClr val="A3ADB7"/>
                </a:solidFill>
                <a:latin typeface="Inter"/>
              </a:rPr>
              <a:t>DEVELOPER</a:t>
            </a:r>
          </a:p>
        </p:txBody>
      </p:sp>
      <p:sp>
        <p:nvSpPr>
          <p:cNvPr id="41" name="Oval 40"/>
          <p:cNvSpPr/>
          <p:nvPr/>
        </p:nvSpPr>
        <p:spPr>
          <a:xfrm>
            <a:off x="6254496" y="5184648"/>
            <a:ext cx="182880" cy="182880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47104" y="5157216"/>
            <a:ext cx="210312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F7FA"/>
                </a:solidFill>
                <a:latin typeface="Inter"/>
              </a:rPr>
              <a:t>Design Workspace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10928" y="5175503"/>
            <a:ext cx="10972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80" b="1" i="0" spc="25">
                <a:solidFill>
                  <a:srgbClr val="A3ADB7"/>
                </a:solidFill>
                <a:latin typeface="Inter"/>
              </a:rPr>
              <a:t>WEBSITE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5632704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1" i="0" spc="45">
                <a:solidFill>
                  <a:srgbClr val="74808B"/>
                </a:solidFill>
                <a:latin typeface="Inter"/>
              </a:rPr>
              <a:t>ILLUSTRATIVE UI • FICTIONAL DATA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" y="6547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FF6D"/>
                </a:solidFill>
                <a:latin typeface="Inter Display"/>
              </a:rPr>
              <a:t>14x27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53312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0">
                <a:solidFill>
                  <a:srgbClr val="74808B"/>
                </a:solidFill>
                <a:latin typeface="Inter"/>
              </a:rPr>
              <a:t>PRODUCT VISION • WEB 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3ADB7"/>
                </a:solidFill>
                <a:latin typeface="DejaVu Sa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5FF6D"/>
                </a:solidFill>
                <a:latin typeface="Inter"/>
              </a:rPr>
              <a:t>03 / PRODUCT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7FA"/>
                </a:solidFill>
                <a:latin typeface="Inter Display"/>
              </a:rPr>
              <a:t>A focused toolkit—not a feature maze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ADB7"/>
                </a:solidFill>
                <a:latin typeface="Inter"/>
              </a:rPr>
              <a:t>Designed around six jobs users actually need to 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3438144" cy="1719072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4754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5FF6D"/>
                </a:solidFill>
                <a:latin typeface="DejaVu Sans Mono"/>
              </a:rPr>
              <a:t>01</a:t>
            </a:r>
          </a:p>
        </p:txBody>
      </p:sp>
      <p:sp>
        <p:nvSpPr>
          <p:cNvPr id="7" name="Oval 6"/>
          <p:cNvSpPr/>
          <p:nvPr/>
        </p:nvSpPr>
        <p:spPr>
          <a:xfrm>
            <a:off x="3447287" y="1920240"/>
            <a:ext cx="365760" cy="365760"/>
          </a:xfrm>
          <a:prstGeom prst="ellipse">
            <a:avLst/>
          </a:prstGeom>
          <a:solidFill>
            <a:srgbClr val="1D252E"/>
          </a:solidFill>
          <a:ln w="12700">
            <a:solidFill>
              <a:srgbClr val="D5F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47287" y="1929384"/>
            <a:ext cx="3657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FF6D"/>
                </a:solidFill>
                <a:latin typeface="Inter"/>
              </a:rP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29260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Inter Display"/>
              </a:rPr>
              <a:t>Vault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70632"/>
            <a:ext cx="29626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Save and organize website logins, secure notes and account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737360"/>
            <a:ext cx="3438144" cy="1719072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938528"/>
            <a:ext cx="4754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CE5E8"/>
                </a:solidFill>
                <a:latin typeface="DejaVu Sans Mono"/>
              </a:rPr>
              <a:t>02</a:t>
            </a:r>
          </a:p>
        </p:txBody>
      </p:sp>
      <p:sp>
        <p:nvSpPr>
          <p:cNvPr id="13" name="Oval 12"/>
          <p:cNvSpPr/>
          <p:nvPr/>
        </p:nvSpPr>
        <p:spPr>
          <a:xfrm>
            <a:off x="7159752" y="1920240"/>
            <a:ext cx="365760" cy="365760"/>
          </a:xfrm>
          <a:prstGeom prst="ellipse">
            <a:avLst/>
          </a:prstGeom>
          <a:solidFill>
            <a:srgbClr val="1D252E"/>
          </a:solidFill>
          <a:ln w="12700">
            <a:solidFill>
              <a:srgbClr val="6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1929384"/>
            <a:ext cx="3657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CE5E8"/>
                </a:solidFill>
                <a:latin typeface="Inter"/>
              </a:rPr>
              <a:t>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395728"/>
            <a:ext cx="29260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Inter Display"/>
              </a:rPr>
              <a:t>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770632"/>
            <a:ext cx="29626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Create unique passwords with configurable length and character sets.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737360"/>
            <a:ext cx="3438144" cy="1719072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1938528"/>
            <a:ext cx="4754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C76B"/>
                </a:solidFill>
                <a:latin typeface="DejaVu Sans Mono"/>
              </a:rPr>
              <a:t>03</a:t>
            </a:r>
          </a:p>
        </p:txBody>
      </p:sp>
      <p:sp>
        <p:nvSpPr>
          <p:cNvPr id="19" name="Oval 18"/>
          <p:cNvSpPr/>
          <p:nvPr/>
        </p:nvSpPr>
        <p:spPr>
          <a:xfrm>
            <a:off x="10872216" y="1920240"/>
            <a:ext cx="365760" cy="365760"/>
          </a:xfrm>
          <a:prstGeom prst="ellipse">
            <a:avLst/>
          </a:prstGeom>
          <a:solidFill>
            <a:srgbClr val="1D252E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72216" y="1929384"/>
            <a:ext cx="3657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C76B"/>
                </a:solidFill>
                <a:latin typeface="Inter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395728"/>
            <a:ext cx="29260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Inter Display"/>
              </a:rPr>
              <a:t>Security center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770632"/>
            <a:ext cx="29626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Identify weak, reused or incomplete entries locally.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822191"/>
            <a:ext cx="3438144" cy="1719072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023359"/>
            <a:ext cx="4754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CE5E8"/>
                </a:solidFill>
                <a:latin typeface="DejaVu Sans Mono"/>
              </a:rPr>
              <a:t>04</a:t>
            </a:r>
          </a:p>
        </p:txBody>
      </p:sp>
      <p:sp>
        <p:nvSpPr>
          <p:cNvPr id="25" name="Oval 24"/>
          <p:cNvSpPr/>
          <p:nvPr/>
        </p:nvSpPr>
        <p:spPr>
          <a:xfrm>
            <a:off x="3447287" y="4005072"/>
            <a:ext cx="365760" cy="365760"/>
          </a:xfrm>
          <a:prstGeom prst="ellipse">
            <a:avLst/>
          </a:prstGeom>
          <a:solidFill>
            <a:srgbClr val="1D252E"/>
          </a:solidFill>
          <a:ln w="12700">
            <a:solidFill>
              <a:srgbClr val="6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7287" y="4014215"/>
            <a:ext cx="3657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CE5E8"/>
                </a:solidFill>
                <a:latin typeface="Inter"/>
              </a:rPr>
              <a:t>{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80559"/>
            <a:ext cx="29260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Inter Display"/>
              </a:rPr>
              <a:t>Developer vault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855464"/>
            <a:ext cx="29626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Group API keys, tokens and database credentials by project and environment.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3822191"/>
            <a:ext cx="3438144" cy="1719072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4023359"/>
            <a:ext cx="4754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5FF6D"/>
                </a:solidFill>
                <a:latin typeface="DejaVu Sans Mono"/>
              </a:rPr>
              <a:t>05</a:t>
            </a:r>
          </a:p>
        </p:txBody>
      </p:sp>
      <p:sp>
        <p:nvSpPr>
          <p:cNvPr id="31" name="Oval 30"/>
          <p:cNvSpPr/>
          <p:nvPr/>
        </p:nvSpPr>
        <p:spPr>
          <a:xfrm>
            <a:off x="7159752" y="4005072"/>
            <a:ext cx="365760" cy="365760"/>
          </a:xfrm>
          <a:prstGeom prst="ellipse">
            <a:avLst/>
          </a:prstGeom>
          <a:solidFill>
            <a:srgbClr val="1D252E"/>
          </a:solidFill>
          <a:ln w="12700">
            <a:solidFill>
              <a:srgbClr val="D5F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9752" y="4014215"/>
            <a:ext cx="3657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FF6D"/>
                </a:solidFill>
                <a:latin typeface="Inter"/>
              </a:rPr>
              <a:t>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144" y="4480559"/>
            <a:ext cx="29260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Inter Display"/>
              </a:rPr>
              <a:t>Collections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855464"/>
            <a:ext cx="29626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Create a structure that mirrors how people work and build.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3296" y="3822191"/>
            <a:ext cx="3438144" cy="1719072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3608" y="4023359"/>
            <a:ext cx="4754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C76B"/>
                </a:solidFill>
                <a:latin typeface="DejaVu Sans Mono"/>
              </a:rPr>
              <a:t>06</a:t>
            </a:r>
          </a:p>
        </p:txBody>
      </p:sp>
      <p:sp>
        <p:nvSpPr>
          <p:cNvPr id="37" name="Oval 36"/>
          <p:cNvSpPr/>
          <p:nvPr/>
        </p:nvSpPr>
        <p:spPr>
          <a:xfrm>
            <a:off x="10872216" y="4005072"/>
            <a:ext cx="365760" cy="365760"/>
          </a:xfrm>
          <a:prstGeom prst="ellipse">
            <a:avLst/>
          </a:prstGeom>
          <a:solidFill>
            <a:srgbClr val="1D252E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72216" y="4014215"/>
            <a:ext cx="3657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C76B"/>
                </a:solidFill>
                <a:latin typeface="Inter"/>
              </a:rPr>
              <a:t>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8" y="4480559"/>
            <a:ext cx="29260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F7FA"/>
                </a:solidFill>
                <a:latin typeface="Inter Display"/>
              </a:rPr>
              <a:t>Encrypted backup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8" y="4855464"/>
            <a:ext cx="296265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Move a vault through a password-protected backup workflow.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" y="5961888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 spc="35">
                <a:solidFill>
                  <a:srgbClr val="74808B"/>
                </a:solidFill>
                <a:latin typeface="Inter"/>
              </a:rPr>
              <a:t>CORE PRODUCT DIRECTION • DELIVERY STATUS DEPENDS ON IMPLEMENTATION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21792" y="6547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FF6D"/>
                </a:solidFill>
                <a:latin typeface="Inter Display"/>
              </a:rPr>
              <a:t>14x27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53312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0">
                <a:solidFill>
                  <a:srgbClr val="74808B"/>
                </a:solidFill>
                <a:latin typeface="Inter"/>
              </a:rPr>
              <a:t>PRODUCT VISION • WEB APP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3ADB7"/>
                </a:solidFill>
                <a:latin typeface="DejaVu Sa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5FF6D"/>
                </a:solidFill>
                <a:latin typeface="Inter"/>
              </a:rPr>
              <a:t>04 / EXPERIENCE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7FA"/>
                </a:solidFill>
                <a:latin typeface="Inter Display"/>
              </a:rPr>
              <a:t>A simple journey, with deliberate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ADB7"/>
                </a:solidFill>
                <a:latin typeface="Inter"/>
              </a:rPr>
              <a:t>The proposed vault flow keeps key handling separate from the credential data it protects.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2103120"/>
            <a:ext cx="2057400" cy="21031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9243" y="2263140"/>
            <a:ext cx="411480" cy="411480"/>
          </a:xfrm>
          <a:prstGeom prst="ellipse">
            <a:avLst/>
          </a:prstGeom>
          <a:solidFill>
            <a:srgbClr val="1D252E"/>
          </a:solidFill>
          <a:ln w="12700">
            <a:solidFill>
              <a:srgbClr val="D5F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3" y="2281428"/>
            <a:ext cx="4114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5FF6D"/>
                </a:solidFill>
                <a:latin typeface="DejaVu San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871216"/>
            <a:ext cx="1655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Inter Display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282696"/>
            <a:ext cx="1655064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3ADB7"/>
                </a:solidFill>
                <a:latin typeface="Inter"/>
              </a:rPr>
              <a:t>Choose a strong
master password.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7824" y="3886200"/>
            <a:ext cx="1655064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7824" y="4014215"/>
            <a:ext cx="1655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 spc="45">
                <a:solidFill>
                  <a:srgbClr val="D5FF6D"/>
                </a:solidFill>
                <a:latin typeface="Inter"/>
              </a:rPr>
              <a:t>NOT PERSISTED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34056" y="2761488"/>
            <a:ext cx="192024" cy="0"/>
          </a:xfrm>
          <a:prstGeom prst="line">
            <a:avLst/>
          </a:prstGeom>
          <a:ln w="15240">
            <a:solidFill>
              <a:srgbClr val="D5F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evron 12"/>
          <p:cNvSpPr/>
          <p:nvPr/>
        </p:nvSpPr>
        <p:spPr>
          <a:xfrm>
            <a:off x="2807208" y="2688336"/>
            <a:ext cx="128016" cy="146304"/>
          </a:xfrm>
          <a:prstGeom prst="chevron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53512" y="2103120"/>
            <a:ext cx="2057400" cy="21031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86100" y="2263140"/>
            <a:ext cx="411480" cy="411480"/>
          </a:xfrm>
          <a:prstGeom prst="ellipse">
            <a:avLst/>
          </a:prstGeom>
          <a:solidFill>
            <a:srgbClr val="1D252E"/>
          </a:solidFill>
          <a:ln w="12700">
            <a:solidFill>
              <a:srgbClr val="6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6100" y="2281428"/>
            <a:ext cx="4114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CE5E8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871216"/>
            <a:ext cx="1655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Inter Display"/>
              </a:rPr>
              <a:t>Derive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282696"/>
            <a:ext cx="1655064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3ADB7"/>
                </a:solidFill>
                <a:latin typeface="Inter"/>
              </a:rPr>
              <a:t>Run Argon2id with a
random salt.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54680" y="3886200"/>
            <a:ext cx="1655064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54680" y="4014215"/>
            <a:ext cx="1655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 spc="45">
                <a:solidFill>
                  <a:srgbClr val="6CE5E8"/>
                </a:solidFill>
                <a:latin typeface="Inter"/>
              </a:rPr>
              <a:t>PASSWORD → KEY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10912" y="2761488"/>
            <a:ext cx="192024" cy="0"/>
          </a:xfrm>
          <a:prstGeom prst="line">
            <a:avLst/>
          </a:prstGeom>
          <a:ln w="15240">
            <a:solidFill>
              <a:srgbClr val="D5F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5084064" y="2688336"/>
            <a:ext cx="128016" cy="146304"/>
          </a:xfrm>
          <a:prstGeom prst="chevron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0368" y="2103120"/>
            <a:ext cx="2057400" cy="21031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62956" y="2263140"/>
            <a:ext cx="411480" cy="411480"/>
          </a:xfrm>
          <a:prstGeom prst="ellipse">
            <a:avLst/>
          </a:prstGeom>
          <a:solidFill>
            <a:srgbClr val="1D252E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62956" y="2281428"/>
            <a:ext cx="4114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C76B"/>
                </a:solidFill>
                <a:latin typeface="DejaVu Sans Mon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1536" y="2871216"/>
            <a:ext cx="1655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Inter Display"/>
              </a:rPr>
              <a:t>Wrap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31536" y="3282696"/>
            <a:ext cx="1655064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3ADB7"/>
                </a:solidFill>
                <a:latin typeface="Inter"/>
              </a:rPr>
              <a:t>Protect a random
vault data key.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31536" y="3886200"/>
            <a:ext cx="1655064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31536" y="4014215"/>
            <a:ext cx="1655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 spc="45">
                <a:solidFill>
                  <a:srgbClr val="FFC76B"/>
                </a:solidFill>
                <a:latin typeface="Inter"/>
              </a:rPr>
              <a:t>KEY SEPARATION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87768" y="2761488"/>
            <a:ext cx="192024" cy="0"/>
          </a:xfrm>
          <a:prstGeom prst="line">
            <a:avLst/>
          </a:prstGeom>
          <a:ln w="15240">
            <a:solidFill>
              <a:srgbClr val="D5F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evron 30"/>
          <p:cNvSpPr/>
          <p:nvPr/>
        </p:nvSpPr>
        <p:spPr>
          <a:xfrm>
            <a:off x="7360920" y="2688336"/>
            <a:ext cx="128016" cy="146304"/>
          </a:xfrm>
          <a:prstGeom prst="chevron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07224" y="2103120"/>
            <a:ext cx="2057400" cy="21031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39812" y="2263140"/>
            <a:ext cx="411480" cy="411480"/>
          </a:xfrm>
          <a:prstGeom prst="ellipse">
            <a:avLst/>
          </a:prstGeom>
          <a:solidFill>
            <a:srgbClr val="1D252E"/>
          </a:solidFill>
          <a:ln w="12700">
            <a:solidFill>
              <a:srgbClr val="D5F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9812" y="2281428"/>
            <a:ext cx="4114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5FF6D"/>
                </a:solidFill>
                <a:latin typeface="DejaVu Sans Mono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08392" y="2871216"/>
            <a:ext cx="1655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Inter Display"/>
              </a:rPr>
              <a:t>Encrypt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8392" y="3282696"/>
            <a:ext cx="1655064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3ADB7"/>
                </a:solidFill>
                <a:latin typeface="Inter"/>
              </a:rPr>
              <a:t>Encrypt each record
with AES-GCM.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708392" y="3886200"/>
            <a:ext cx="1655064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08392" y="4014215"/>
            <a:ext cx="1655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 spc="45">
                <a:solidFill>
                  <a:srgbClr val="D5FF6D"/>
                </a:solidFill>
                <a:latin typeface="Inter"/>
              </a:rPr>
              <a:t>AUTHENTICATED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564624" y="2761488"/>
            <a:ext cx="192024" cy="0"/>
          </a:xfrm>
          <a:prstGeom prst="line">
            <a:avLst/>
          </a:prstGeom>
          <a:ln w="15240">
            <a:solidFill>
              <a:srgbClr val="D5F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hevron 39"/>
          <p:cNvSpPr/>
          <p:nvPr/>
        </p:nvSpPr>
        <p:spPr>
          <a:xfrm>
            <a:off x="9637776" y="2688336"/>
            <a:ext cx="128016" cy="146304"/>
          </a:xfrm>
          <a:prstGeom prst="chevron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784080" y="2103120"/>
            <a:ext cx="2057400" cy="21031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916668" y="2263140"/>
            <a:ext cx="411480" cy="411480"/>
          </a:xfrm>
          <a:prstGeom prst="ellipse">
            <a:avLst/>
          </a:prstGeom>
          <a:solidFill>
            <a:srgbClr val="1D252E"/>
          </a:solidFill>
          <a:ln w="12700">
            <a:solidFill>
              <a:srgbClr val="6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16668" y="2281428"/>
            <a:ext cx="4114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CE5E8"/>
                </a:solidFill>
                <a:latin typeface="DejaVu Sans Mono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85248" y="2871216"/>
            <a:ext cx="1655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Inter Display"/>
              </a:rPr>
              <a:t>Unlock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85248" y="3282696"/>
            <a:ext cx="1655064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A3ADB7"/>
                </a:solidFill>
                <a:latin typeface="Inter"/>
              </a:rPr>
              <a:t>Decrypt only in an
unlocked session.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985248" y="3886200"/>
            <a:ext cx="1655064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985248" y="4014215"/>
            <a:ext cx="1655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 spc="45">
                <a:solidFill>
                  <a:srgbClr val="6CE5E8"/>
                </a:solidFill>
                <a:latin typeface="Inter"/>
              </a:rPr>
              <a:t>LOCAL ANALYSIS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5800" y="4681728"/>
            <a:ext cx="10899648" cy="749808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96112" y="4864608"/>
            <a:ext cx="347472" cy="347472"/>
          </a:xfrm>
          <a:prstGeom prst="roundRect">
            <a:avLst/>
          </a:prstGeom>
          <a:solidFill>
            <a:srgbClr val="1D252E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4882896"/>
            <a:ext cx="347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CE5E8"/>
                </a:solidFill>
                <a:latin typeface="DejaVu Sans Mono"/>
              </a:rPr>
              <a:t>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99032" y="4809744"/>
            <a:ext cx="306324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5F7FA"/>
                </a:solidFill>
                <a:latin typeface="Inter"/>
              </a:rPr>
              <a:t>Design target, not a security certification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43984" y="4791456"/>
            <a:ext cx="65379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A3ADB7"/>
                </a:solidFill>
                <a:latin typeface="Inter"/>
              </a:rPr>
              <a:t>The browser implementation must prove these boundaries through tests and review before the claims are treated as verified.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21792" y="6547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FF6D"/>
                </a:solidFill>
                <a:latin typeface="Inter Display"/>
              </a:rPr>
              <a:t>14x27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53312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0">
                <a:solidFill>
                  <a:srgbClr val="74808B"/>
                </a:solidFill>
                <a:latin typeface="Inter"/>
              </a:rPr>
              <a:t>PRODUCT VISION • WEB APP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3ADB7"/>
                </a:solidFill>
                <a:latin typeface="DejaVu Sa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5FF6D"/>
                </a:solidFill>
                <a:latin typeface="Inter"/>
              </a:rPr>
              <a:t>05 / WEB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7FA"/>
                </a:solidFill>
                <a:latin typeface="Inter Display"/>
              </a:rPr>
              <a:t>Keep the secret data path narrow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ADB7"/>
                </a:solidFill>
                <a:latin typeface="Inter"/>
              </a:rPr>
              <a:t>Target architecture for the web app: sensitive content should not need to leave the browser to be useful.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57400"/>
            <a:ext cx="2788920" cy="1856231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276856"/>
            <a:ext cx="23500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45">
                <a:solidFill>
                  <a:srgbClr val="6CE5E8"/>
                </a:solidFill>
                <a:latin typeface="Inter"/>
              </a:rPr>
              <a:t>01 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2679192"/>
            <a:ext cx="235000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Inter Display"/>
              </a:rPr>
              <a:t>Web UI / forms /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246120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A3ADB7"/>
                </a:solidFill>
                <a:latin typeface="Inter"/>
              </a:rPr>
              <a:t>Inputs, reveal &amp; copy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2057400"/>
            <a:ext cx="2788920" cy="1856231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01184" y="2276856"/>
            <a:ext cx="23500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45">
                <a:solidFill>
                  <a:srgbClr val="D5FF6D"/>
                </a:solidFill>
                <a:latin typeface="Inter"/>
              </a:rPr>
              <a:t>02  CRYPTO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4" y="2679192"/>
            <a:ext cx="235000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Inter Display"/>
              </a:rPr>
              <a:t>Argon2id + AES-GCM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1184" y="3246120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A3ADB7"/>
                </a:solidFill>
                <a:latin typeface="Inter"/>
              </a:rPr>
              <a:t>Derive, wrap, encrypt &amp; verify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057400"/>
            <a:ext cx="2788920" cy="1856231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14816" y="2276856"/>
            <a:ext cx="23500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45">
                <a:solidFill>
                  <a:srgbClr val="FFC76B"/>
                </a:solidFill>
                <a:latin typeface="Inter"/>
              </a:rPr>
              <a:t>03  LOCAL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2679192"/>
            <a:ext cx="2350008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Inter Display"/>
              </a:rPr>
              <a:t>IndexedDB / ciphertext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6" y="3246120"/>
            <a:ext cx="23500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A3ADB7"/>
                </a:solidFill>
                <a:latin typeface="Inter"/>
              </a:rPr>
              <a:t>Versioned envelopes &amp; metadata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11880" y="2971800"/>
            <a:ext cx="960120" cy="0"/>
          </a:xfrm>
          <a:prstGeom prst="line">
            <a:avLst/>
          </a:prstGeom>
          <a:ln w="21590">
            <a:solidFill>
              <a:srgbClr val="D5F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>
            <a:off x="4425696" y="2880360"/>
            <a:ext cx="164592" cy="182880"/>
          </a:xfrm>
          <a:prstGeom prst="chevron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525512" y="2971800"/>
            <a:ext cx="960120" cy="0"/>
          </a:xfrm>
          <a:prstGeom prst="line">
            <a:avLst/>
          </a:prstGeom>
          <a:ln w="21590">
            <a:solidFill>
              <a:srgbClr val="D5F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evron 19"/>
          <p:cNvSpPr/>
          <p:nvPr/>
        </p:nvSpPr>
        <p:spPr>
          <a:xfrm>
            <a:off x="8339327" y="2880360"/>
            <a:ext cx="164592" cy="182880"/>
          </a:xfrm>
          <a:prstGeom prst="chevron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389120"/>
            <a:ext cx="5148072" cy="822960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9943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40">
                <a:solidFill>
                  <a:srgbClr val="6CE5E8"/>
                </a:solidFill>
                <a:latin typeface="Inter"/>
              </a:rPr>
              <a:t>BACKUP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562856"/>
            <a:ext cx="325526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Export the entire payload as an encrypted, versioned file.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4389120"/>
            <a:ext cx="5202936" cy="822960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599432"/>
            <a:ext cx="1508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0">
                <a:solidFill>
                  <a:srgbClr val="FFC76B"/>
                </a:solidFill>
                <a:latin typeface="Inter"/>
              </a:rPr>
              <a:t>OPTIONAL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4562856"/>
            <a:ext cx="318211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3ADB7"/>
                </a:solidFill>
                <a:latin typeface="Inter"/>
              </a:rPr>
              <a:t>Sync or remote sharing require separate infrastructure and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5669280"/>
            <a:ext cx="9509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5">
                <a:solidFill>
                  <a:srgbClr val="74808B"/>
                </a:solidFill>
                <a:latin typeface="Inter"/>
              </a:rPr>
              <a:t>ARCHITECTURE PRINCIPLE  /  THE SERVER SHOULD NOT RECEIVE PLAINTEXT VAULT CONTENT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" y="6547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FF6D"/>
                </a:solidFill>
                <a:latin typeface="Inter Display"/>
              </a:rPr>
              <a:t>14x27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0">
                <a:solidFill>
                  <a:srgbClr val="74808B"/>
                </a:solidFill>
                <a:latin typeface="Inter"/>
              </a:rPr>
              <a:t>PRODUCT VISION • WEB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3ADB7"/>
                </a:solidFill>
                <a:latin typeface="DejaVu Sa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5FF6D"/>
                </a:solidFill>
                <a:latin typeface="Inter"/>
              </a:rPr>
              <a:t>06 / SECURITY 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7FA"/>
                </a:solidFill>
                <a:latin typeface="Inter Display"/>
              </a:rPr>
              <a:t>Security is a system—not a badge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ADB7"/>
                </a:solidFill>
                <a:latin typeface="Inter"/>
              </a:rPr>
              <a:t>Use clear controls, explicit boundaries and proof from tests. Avoid absolute promises.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5532120" cy="4178808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70">
                <a:solidFill>
                  <a:srgbClr val="D5FF6D"/>
                </a:solidFill>
                <a:latin typeface="Inter"/>
              </a:rPr>
              <a:t>DESIGNED CONTROLS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2468880"/>
            <a:ext cx="173736" cy="173736"/>
          </a:xfrm>
          <a:prstGeom prst="ellipse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32304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Inter"/>
              </a:rPr>
              <a:t>Key separation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2432304"/>
            <a:ext cx="27066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3ADB7"/>
                </a:solidFill>
                <a:latin typeface="Inter"/>
              </a:rPr>
              <a:t>Master password, derived wrapping key and random data key have distinct roles.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2688" y="2980944"/>
            <a:ext cx="4919472" cy="0"/>
          </a:xfrm>
          <a:prstGeom prst="line">
            <a:avLst/>
          </a:prstGeom>
          <a:ln w="762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32688" y="3218688"/>
            <a:ext cx="173736" cy="173736"/>
          </a:xfrm>
          <a:prstGeom prst="ellipse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182112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Inter"/>
              </a:rPr>
              <a:t>Authenticated encryption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182112"/>
            <a:ext cx="27066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3ADB7"/>
                </a:solidFill>
                <a:latin typeface="Inter"/>
              </a:rPr>
              <a:t>AES-256-GCM with fresh nonces and authenticated record context.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" y="3730752"/>
            <a:ext cx="4919472" cy="0"/>
          </a:xfrm>
          <a:prstGeom prst="line">
            <a:avLst/>
          </a:prstGeom>
          <a:ln w="762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32688" y="3968496"/>
            <a:ext cx="173736" cy="173736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3931920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Inter"/>
              </a:rPr>
              <a:t>Local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3931920"/>
            <a:ext cx="27066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3ADB7"/>
                </a:solidFill>
                <a:latin typeface="Inter"/>
              </a:rPr>
              <a:t>Weak/reused-password checks run only after vault unlock.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2688" y="4480559"/>
            <a:ext cx="4919472" cy="0"/>
          </a:xfrm>
          <a:prstGeom prst="line">
            <a:avLst/>
          </a:prstGeom>
          <a:ln w="762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32688" y="4718304"/>
            <a:ext cx="173736" cy="173736"/>
          </a:xfrm>
          <a:prstGeom prst="ellipse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681728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Inter"/>
              </a:rPr>
              <a:t>Safer lifecycle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0672" y="4681728"/>
            <a:ext cx="27066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3ADB7"/>
                </a:solidFill>
                <a:latin typeface="Inter"/>
              </a:rPr>
              <a:t>Locking, clipboard hygiene and generic feedback reduce accidental exposure.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737360"/>
            <a:ext cx="5074920" cy="4178808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199339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70">
                <a:solidFill>
                  <a:srgbClr val="FFC76B"/>
                </a:solidFill>
                <a:latin typeface="Inter"/>
              </a:rPr>
              <a:t>REALISTIC LIMITS</a:t>
            </a:r>
          </a:p>
        </p:txBody>
      </p:sp>
      <p:sp>
        <p:nvSpPr>
          <p:cNvPr id="24" name="Oval 23"/>
          <p:cNvSpPr/>
          <p:nvPr/>
        </p:nvSpPr>
        <p:spPr>
          <a:xfrm>
            <a:off x="6729984" y="2505456"/>
            <a:ext cx="73152" cy="73152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2432304"/>
            <a:ext cx="418795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Malware, keyloggers and a compromised browser can expose secrets while unlocked.</a:t>
            </a:r>
          </a:p>
        </p:txBody>
      </p:sp>
      <p:sp>
        <p:nvSpPr>
          <p:cNvPr id="26" name="Oval 25"/>
          <p:cNvSpPr/>
          <p:nvPr/>
        </p:nvSpPr>
        <p:spPr>
          <a:xfrm>
            <a:off x="6729984" y="3227832"/>
            <a:ext cx="73152" cy="73152"/>
          </a:xfrm>
          <a:prstGeom prst="ellipse">
            <a:avLst/>
          </a:prstGeom>
          <a:solidFill>
            <a:srgbClr val="FF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31152" y="3154680"/>
            <a:ext cx="418795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A web app cannot guarantee that all delivered client code is trustworthy without deployment controls.</a:t>
            </a:r>
          </a:p>
        </p:txBody>
      </p:sp>
      <p:sp>
        <p:nvSpPr>
          <p:cNvPr id="28" name="Oval 27"/>
          <p:cNvSpPr/>
          <p:nvPr/>
        </p:nvSpPr>
        <p:spPr>
          <a:xfrm>
            <a:off x="6729984" y="3950208"/>
            <a:ext cx="73152" cy="73152"/>
          </a:xfrm>
          <a:prstGeom prst="ellipse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3877056"/>
            <a:ext cx="418795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Clipboard clearing and screenshot protection are best-effort controls, not guarantees.</a:t>
            </a:r>
          </a:p>
        </p:txBody>
      </p:sp>
      <p:sp>
        <p:nvSpPr>
          <p:cNvPr id="30" name="Oval 29"/>
          <p:cNvSpPr/>
          <p:nvPr/>
        </p:nvSpPr>
        <p:spPr>
          <a:xfrm>
            <a:off x="6729984" y="4672584"/>
            <a:ext cx="73152" cy="73152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31152" y="4599432"/>
            <a:ext cx="418795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No independent security audit is claimed at this stage.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542239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F5F7FA"/>
                </a:solidFill>
                <a:latin typeface="Inter"/>
              </a:rPr>
              <a:t>Trust comes from architecture + implementation + independent review.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1792" y="6547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FF6D"/>
                </a:solidFill>
                <a:latin typeface="Inter Display"/>
              </a:rPr>
              <a:t>14x27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3312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0">
                <a:solidFill>
                  <a:srgbClr val="74808B"/>
                </a:solidFill>
                <a:latin typeface="Inter"/>
              </a:rPr>
              <a:t>PRODUCT VISION • WEB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3ADB7"/>
                </a:solidFill>
                <a:latin typeface="DejaVu Sa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5FF6D"/>
                </a:solidFill>
                <a:latin typeface="Inter"/>
              </a:rPr>
              <a:t>07 / DEVELOPER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7FA"/>
                </a:solidFill>
                <a:latin typeface="Inter Display"/>
              </a:rPr>
              <a:t>Credential context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ADB7"/>
                </a:solidFill>
                <a:latin typeface="Inter"/>
              </a:rPr>
              <a:t>A developer secret is more than a string. It belongs to a project, service and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83080"/>
            <a:ext cx="4572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5F7FA"/>
                </a:solidFill>
                <a:latin typeface="Inter Display"/>
              </a:rPr>
              <a:t>From scattered notes to structured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32888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ADB7"/>
                </a:solidFill>
                <a:latin typeface="Inter"/>
              </a:rPr>
              <a:t>Organize API keys, database credentials, personal access tokens and service-account references beside the projects that use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93008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5FF6D"/>
                </a:solidFill>
                <a:latin typeface="DejaVu Sa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864" y="3493008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5F7FA"/>
                </a:solidFill>
                <a:latin typeface="Inter"/>
              </a:rPr>
              <a:t>Project collections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3493008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3ADB7"/>
                </a:solidFill>
                <a:latin typeface="Inter"/>
              </a:rPr>
              <a:t>Group credentials by product or client.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023359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5FF6D"/>
                </a:solidFill>
                <a:latin typeface="DejaVu Sa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7864" y="4023359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5F7FA"/>
                </a:solidFill>
                <a:latin typeface="Inter"/>
              </a:rPr>
              <a:t>Environment 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4023359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3ADB7"/>
                </a:solidFill>
                <a:latin typeface="Inter"/>
              </a:rPr>
              <a:t>Separate Development, Staging and Production.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55371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5FF6D"/>
                </a:solidFill>
                <a:latin typeface="DejaVu Sa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7864" y="4553712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5F7FA"/>
                </a:solidFill>
                <a:latin typeface="Inter"/>
              </a:rPr>
              <a:t>Safer 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4553712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3ADB7"/>
                </a:solidFill>
                <a:latin typeface="Inter"/>
              </a:rPr>
              <a:t>Generate .env.example placeholders—not live values by default.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08406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5FF6D"/>
                </a:solidFill>
                <a:latin typeface="DejaVu Sans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7864" y="5084064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5F7FA"/>
                </a:solidFill>
                <a:latin typeface="Inter"/>
              </a:rPr>
              <a:t>Rotation reminders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5084064"/>
            <a:ext cx="23042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A3ADB7"/>
                </a:solidFill>
                <a:latin typeface="Inter"/>
              </a:rPr>
              <a:t>Track planned review dates; do not pretend a reminder rotates an external key.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96128" y="1755648"/>
            <a:ext cx="5632704" cy="425196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14416" y="1773936"/>
            <a:ext cx="5596128" cy="310896"/>
          </a:xfrm>
          <a:prstGeom prst="rect">
            <a:avLst/>
          </a:prstGeom>
          <a:solidFill>
            <a:srgbClr val="17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51576" y="1883664"/>
            <a:ext cx="64008" cy="64008"/>
          </a:xfrm>
          <a:prstGeom prst="ellipse">
            <a:avLst/>
          </a:prstGeom>
          <a:solidFill>
            <a:srgbClr val="FF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97880" y="1883664"/>
            <a:ext cx="64008" cy="64008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44184" y="1883664"/>
            <a:ext cx="64008" cy="64008"/>
          </a:xfrm>
          <a:prstGeom prst="ellipse">
            <a:avLst/>
          </a:prstGeom>
          <a:solidFill>
            <a:srgbClr val="88E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1847088"/>
            <a:ext cx="43525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3ADB7"/>
                </a:solidFill>
                <a:latin typeface="Inter"/>
              </a:rPr>
              <a:t>Developer vault / Project: SIGHTLINE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31552" y="1847088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 spc="25">
                <a:solidFill>
                  <a:srgbClr val="D5FF6D"/>
                </a:solidFill>
                <a:latin typeface="Inter"/>
              </a:rPr>
              <a:t>LOCAL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9592" y="22128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Inter Display"/>
              </a:rPr>
              <a:t>Workspace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9592" y="2487168"/>
            <a:ext cx="3291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40" b="1" i="0" spc="35">
                <a:solidFill>
                  <a:srgbClr val="74808B"/>
                </a:solidFill>
                <a:latin typeface="Inter"/>
              </a:rPr>
              <a:t>3 PROJECTS  •  8 STORED REFERENCES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0448" y="2852928"/>
            <a:ext cx="1435608" cy="347472"/>
          </a:xfrm>
          <a:prstGeom prst="roundRect">
            <a:avLst/>
          </a:prstGeom>
          <a:solidFill>
            <a:srgbClr val="1D252E"/>
          </a:solidFill>
          <a:ln w="12700">
            <a:solidFill>
              <a:srgbClr val="6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25312" y="2953512"/>
            <a:ext cx="1325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 spc="25">
                <a:solidFill>
                  <a:srgbClr val="6CE5E8"/>
                </a:solidFill>
                <a:latin typeface="Inter"/>
              </a:rPr>
              <a:t>DEVELOPMENT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8936" y="2852928"/>
            <a:ext cx="1435608" cy="347472"/>
          </a:xfrm>
          <a:prstGeom prst="roundRect">
            <a:avLst/>
          </a:prstGeom>
          <a:solidFill>
            <a:srgbClr val="1D252E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800" y="2953512"/>
            <a:ext cx="1325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 spc="25">
                <a:solidFill>
                  <a:srgbClr val="FFC76B"/>
                </a:solidFill>
                <a:latin typeface="Inter"/>
              </a:rPr>
              <a:t>STAGING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07424" y="2852928"/>
            <a:ext cx="1435608" cy="347472"/>
          </a:xfrm>
          <a:prstGeom prst="roundRect">
            <a:avLst/>
          </a:prstGeom>
          <a:solidFill>
            <a:srgbClr val="1D252E"/>
          </a:solidFill>
          <a:ln w="12700">
            <a:solidFill>
              <a:srgbClr val="FF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62288" y="2953512"/>
            <a:ext cx="1325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1" i="0" spc="25">
                <a:solidFill>
                  <a:srgbClr val="FF7185"/>
                </a:solidFill>
                <a:latin typeface="Inter"/>
              </a:rPr>
              <a:t>PRODUCTION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79592" y="3410712"/>
            <a:ext cx="5010912" cy="493776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53328" y="3557016"/>
            <a:ext cx="164592" cy="164592"/>
          </a:xfrm>
          <a:prstGeom prst="ellipse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3493008"/>
            <a:ext cx="20116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5F7FA"/>
                </a:solidFill>
                <a:latin typeface="Inter"/>
              </a:rPr>
              <a:t>GitHub token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5936" y="3694176"/>
            <a:ext cx="2651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3ADB7"/>
                </a:solidFill>
                <a:latin typeface="Inter"/>
              </a:rPr>
              <a:t>Personal access token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5248" y="3575304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 i="0" spc="30">
                <a:solidFill>
                  <a:srgbClr val="6CE5E8"/>
                </a:solidFill>
                <a:latin typeface="Inter"/>
              </a:rPr>
              <a:t>DEV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79592" y="4032504"/>
            <a:ext cx="5010912" cy="493776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53328" y="4178808"/>
            <a:ext cx="164592" cy="164592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114800"/>
            <a:ext cx="20116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5F7FA"/>
                </a:solidFill>
                <a:latin typeface="Inter"/>
              </a:rPr>
              <a:t>Postgres credentials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4315968"/>
            <a:ext cx="2651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3ADB7"/>
                </a:solidFill>
                <a:latin typeface="Inter"/>
              </a:rPr>
              <a:t>Database access reference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85248" y="4197096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 i="0" spc="30">
                <a:solidFill>
                  <a:srgbClr val="FFC76B"/>
                </a:solidFill>
                <a:latin typeface="Inter"/>
              </a:rPr>
              <a:t>STAGE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79592" y="4654296"/>
            <a:ext cx="5010912" cy="493776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53328" y="4800600"/>
            <a:ext cx="164592" cy="164592"/>
          </a:xfrm>
          <a:prstGeom prst="ellipse">
            <a:avLst/>
          </a:prstGeom>
          <a:solidFill>
            <a:srgbClr val="FF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4736592"/>
            <a:ext cx="20116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F5F7FA"/>
                </a:solidFill>
                <a:latin typeface="Inter"/>
              </a:rPr>
              <a:t>Maps API key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5936" y="4937759"/>
            <a:ext cx="26517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3ADB7"/>
                </a:solidFill>
                <a:latin typeface="Inter"/>
              </a:rPr>
              <a:t>Service credential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85248" y="4818888"/>
            <a:ext cx="6400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 i="0" spc="30">
                <a:solidFill>
                  <a:srgbClr val="FF7185"/>
                </a:solidFill>
                <a:latin typeface="Inter"/>
              </a:rPr>
              <a:t>PROD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68896" y="5733288"/>
            <a:ext cx="33375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1" i="0" spc="40">
                <a:solidFill>
                  <a:srgbClr val="74808B"/>
                </a:solidFill>
                <a:latin typeface="Inter"/>
              </a:rPr>
              <a:t>MOCK DATA ONLY • NO LIVE CREDENTIALS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" y="6547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FF6D"/>
                </a:solidFill>
                <a:latin typeface="Inter Display"/>
              </a:rPr>
              <a:t>14x27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53312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0">
                <a:solidFill>
                  <a:srgbClr val="74808B"/>
                </a:solidFill>
                <a:latin typeface="Inter"/>
              </a:rPr>
              <a:t>PRODUCT VISION • WEB APP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3ADB7"/>
                </a:solidFill>
                <a:latin typeface="DejaVu Sa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5FF6D"/>
                </a:solidFill>
                <a:latin typeface="Inter"/>
              </a:rPr>
              <a:t>08 / CONVENIENCE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7FA"/>
                </a:solidFill>
                <a:latin typeface="Inter Display"/>
              </a:rPr>
              <a:t>Autofill—with user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ADB7"/>
                </a:solidFill>
                <a:latin typeface="Inter"/>
              </a:rPr>
              <a:t>Reduce repetitive typing without silently collecting or submitting credentials.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38528"/>
            <a:ext cx="2487168" cy="16459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2093976"/>
            <a:ext cx="384048" cy="384048"/>
          </a:xfrm>
          <a:prstGeom prst="ellipse">
            <a:avLst/>
          </a:prstGeom>
          <a:solidFill>
            <a:srgbClr val="1D252E"/>
          </a:solidFill>
          <a:ln w="12700">
            <a:solidFill>
              <a:srgbClr val="6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12264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CE5E8"/>
                </a:solidFill>
                <a:latin typeface="DejaVu Sans Mon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651760"/>
            <a:ext cx="20299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Inter Display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3044952"/>
            <a:ext cx="20299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3ADB7"/>
                </a:solidFill>
                <a:latin typeface="Inter"/>
              </a:rPr>
              <a:t>A browser extension identifies a compatible login form.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82112" y="2523744"/>
            <a:ext cx="265176" cy="0"/>
          </a:xfrm>
          <a:prstGeom prst="line">
            <a:avLst/>
          </a:prstGeom>
          <a:ln w="15240">
            <a:solidFill>
              <a:srgbClr val="D5F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3346704" y="2459736"/>
            <a:ext cx="128016" cy="146304"/>
          </a:xfrm>
          <a:prstGeom prst="chevron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02152" y="1938528"/>
            <a:ext cx="2487168" cy="16459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2093976"/>
            <a:ext cx="384048" cy="384048"/>
          </a:xfrm>
          <a:prstGeom prst="ellipse">
            <a:avLst/>
          </a:prstGeom>
          <a:solidFill>
            <a:srgbClr val="1D252E"/>
          </a:solidFill>
          <a:ln w="12700">
            <a:solidFill>
              <a:srgbClr val="D5F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112264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5FF6D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651760"/>
            <a:ext cx="20299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Inter Display"/>
              </a:rPr>
              <a:t>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3044952"/>
            <a:ext cx="20299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3ADB7"/>
                </a:solidFill>
                <a:latin typeface="Inter"/>
              </a:rPr>
              <a:t>Match the website origin to saved records.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98464" y="2523744"/>
            <a:ext cx="265176" cy="0"/>
          </a:xfrm>
          <a:prstGeom prst="line">
            <a:avLst/>
          </a:prstGeom>
          <a:ln w="15240">
            <a:solidFill>
              <a:srgbClr val="D5F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evron 17"/>
          <p:cNvSpPr/>
          <p:nvPr/>
        </p:nvSpPr>
        <p:spPr>
          <a:xfrm>
            <a:off x="6163056" y="2459736"/>
            <a:ext cx="128016" cy="146304"/>
          </a:xfrm>
          <a:prstGeom prst="chevron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18504" y="1938528"/>
            <a:ext cx="2487168" cy="16459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73952" y="2093976"/>
            <a:ext cx="384048" cy="384048"/>
          </a:xfrm>
          <a:prstGeom prst="ellipse">
            <a:avLst/>
          </a:prstGeom>
          <a:solidFill>
            <a:srgbClr val="1D252E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112264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C76B"/>
                </a:solidFill>
                <a:latin typeface="DejaVu Sans Mon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651760"/>
            <a:ext cx="20299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Inter Display"/>
              </a:rP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044952"/>
            <a:ext cx="20299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3ADB7"/>
                </a:solidFill>
                <a:latin typeface="Inter"/>
              </a:rPr>
              <a:t>Show the selected account and ask before filling or saving.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14816" y="2523744"/>
            <a:ext cx="265176" cy="0"/>
          </a:xfrm>
          <a:prstGeom prst="line">
            <a:avLst/>
          </a:prstGeom>
          <a:ln w="15240">
            <a:solidFill>
              <a:srgbClr val="D5FF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evron 24"/>
          <p:cNvSpPr/>
          <p:nvPr/>
        </p:nvSpPr>
        <p:spPr>
          <a:xfrm>
            <a:off x="8979408" y="2459736"/>
            <a:ext cx="128016" cy="146304"/>
          </a:xfrm>
          <a:prstGeom prst="chevron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34856" y="1938528"/>
            <a:ext cx="2487168" cy="16459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290304" y="2093976"/>
            <a:ext cx="384048" cy="384048"/>
          </a:xfrm>
          <a:prstGeom prst="ellipse">
            <a:avLst/>
          </a:prstGeom>
          <a:solidFill>
            <a:srgbClr val="1D252E"/>
          </a:solidFill>
          <a:ln w="12700">
            <a:solidFill>
              <a:srgbClr val="D5F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12264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5FF6D"/>
                </a:solidFill>
                <a:latin typeface="DejaVu Sans Mono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2651760"/>
            <a:ext cx="20299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5F7FA"/>
                </a:solidFill>
                <a:latin typeface="Inter Display"/>
              </a:rPr>
              <a:t>Protect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54312" y="3044952"/>
            <a:ext cx="202996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3ADB7"/>
                </a:solidFill>
                <a:latin typeface="Inter"/>
              </a:rPr>
              <a:t>Never auto-submit; keep vault access behind an unlock check.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4096512"/>
            <a:ext cx="6720840" cy="1234440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3434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55">
                <a:solidFill>
                  <a:srgbClr val="6CE5E8"/>
                </a:solidFill>
                <a:latin typeface="Inter"/>
              </a:rPr>
              <a:t>IMPLEMENTATION REALITY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" y="4645152"/>
            <a:ext cx="607161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F5F7FA"/>
                </a:solidFill>
                <a:latin typeface="Inter"/>
              </a:rPr>
              <a:t>A normal web page cannot reliably detect login activity across other websites. Cross-site autofill and save usually require a browser extension with explicit permissions.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99248" y="4096512"/>
            <a:ext cx="3794760" cy="123444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6136" y="433425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55">
                <a:solidFill>
                  <a:srgbClr val="FFC76B"/>
                </a:solidFill>
                <a:latin typeface="Inter"/>
              </a:rPr>
              <a:t>GOOGLE PASSWORDS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46136" y="4645152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3ADB7"/>
                </a:solidFill>
                <a:latin typeface="Inter"/>
              </a:rPr>
              <a:t>Treat direct integration as research until supported import/export or platform pathways are confirmed.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806440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38">
                <a:solidFill>
                  <a:srgbClr val="74808B"/>
                </a:solidFill>
                <a:latin typeface="Inter"/>
              </a:rPr>
              <a:t>ROADMAP CAPABILITY • NOT PRESENTED AS ALREADY SHIPPED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1792" y="6547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FF6D"/>
                </a:solidFill>
                <a:latin typeface="Inter Display"/>
              </a:rPr>
              <a:t>14x27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3312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0">
                <a:solidFill>
                  <a:srgbClr val="74808B"/>
                </a:solidFill>
                <a:latin typeface="Inter"/>
              </a:rPr>
              <a:t>PRODUCT VISION • WEB 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3ADB7"/>
                </a:solidFill>
                <a:latin typeface="DejaVu Sa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5FF6D"/>
                </a:solidFill>
                <a:latin typeface="Inter"/>
              </a:rPr>
              <a:t>09 / 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7FA"/>
                </a:solidFill>
                <a:latin typeface="Inter Display"/>
              </a:rPr>
              <a:t>Quiet, precise, easy to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ADB7"/>
                </a:solidFill>
                <a:latin typeface="Inter"/>
              </a:rPr>
              <a:t>A consistent design language for daily access and high-attention moments.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55648"/>
            <a:ext cx="3511296" cy="4187952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" y="1773936"/>
            <a:ext cx="3474720" cy="310896"/>
          </a:xfrm>
          <a:prstGeom prst="rect">
            <a:avLst/>
          </a:prstGeom>
          <a:solidFill>
            <a:srgbClr val="17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3816" y="1883664"/>
            <a:ext cx="64008" cy="64008"/>
          </a:xfrm>
          <a:prstGeom prst="ellipse">
            <a:avLst/>
          </a:prstGeom>
          <a:solidFill>
            <a:srgbClr val="FF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83664"/>
            <a:ext cx="64008" cy="64008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6424" y="1883664"/>
            <a:ext cx="64008" cy="64008"/>
          </a:xfrm>
          <a:prstGeom prst="ellipse">
            <a:avLst/>
          </a:prstGeom>
          <a:solidFill>
            <a:srgbClr val="88E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1847088"/>
            <a:ext cx="22311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3ADB7"/>
                </a:solidFill>
                <a:latin typeface="Inter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3" y="1847088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 spc="25">
                <a:solidFill>
                  <a:srgbClr val="D5FF6D"/>
                </a:solidFill>
                <a:latin typeface="Inter"/>
              </a:rPr>
              <a:t>UNLOCKED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21284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5F7FA"/>
                </a:solidFill>
                <a:latin typeface="Inter Display"/>
              </a:rPr>
              <a:t>Good morning.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487168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3ADB7"/>
                </a:solidFill>
                <a:latin typeface="Inter"/>
              </a:rPr>
              <a:t>Your vault is ready.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816352"/>
            <a:ext cx="1353312" cy="758952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935224"/>
            <a:ext cx="8229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D5FF6D"/>
                </a:solidFill>
                <a:latin typeface="Inter Display"/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73552"/>
            <a:ext cx="8778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 i="0" spc="25">
                <a:solidFill>
                  <a:srgbClr val="A3ADB7"/>
                </a:solidFill>
                <a:latin typeface="Inter"/>
              </a:rPr>
              <a:t>CREDENTIALS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5728" y="2816352"/>
            <a:ext cx="1417320" cy="758952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51176" y="2935224"/>
            <a:ext cx="82296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C76B"/>
                </a:solidFill>
                <a:latin typeface="Inter Display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1176" y="3273552"/>
            <a:ext cx="87782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" b="1" i="0" spc="25">
                <a:solidFill>
                  <a:srgbClr val="A3ADB7"/>
                </a:solidFill>
                <a:latin typeface="Inter"/>
              </a:rPr>
              <a:t>TO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867912"/>
            <a:ext cx="12801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1" i="0" spc="40">
                <a:solidFill>
                  <a:srgbClr val="74808B"/>
                </a:solidFill>
                <a:latin typeface="Inter"/>
              </a:rPr>
              <a:t>QUICK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4160520"/>
            <a:ext cx="2926080" cy="301752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4984" y="4251959"/>
            <a:ext cx="109728" cy="109728"/>
          </a:xfrm>
          <a:prstGeom prst="ellipse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251959"/>
            <a:ext cx="1920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F7FA"/>
                </a:solidFill>
                <a:latin typeface="Inter"/>
              </a:rPr>
              <a:t>Add login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" y="4562856"/>
            <a:ext cx="2926080" cy="301752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14984" y="4654296"/>
            <a:ext cx="109728" cy="109728"/>
          </a:xfrm>
          <a:prstGeom prst="ellipse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4654296"/>
            <a:ext cx="1920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F7FA"/>
                </a:solidFill>
                <a:latin typeface="Inter"/>
              </a:rPr>
              <a:t>Generate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" y="4965192"/>
            <a:ext cx="2926080" cy="301752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4984" y="5056631"/>
            <a:ext cx="109728" cy="109728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5056631"/>
            <a:ext cx="19202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5F7FA"/>
                </a:solidFill>
                <a:latin typeface="Inter"/>
              </a:rPr>
              <a:t>Audit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1755648"/>
            <a:ext cx="3511296" cy="4187952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1773936"/>
            <a:ext cx="3474720" cy="310896"/>
          </a:xfrm>
          <a:prstGeom prst="rect">
            <a:avLst/>
          </a:prstGeom>
          <a:solidFill>
            <a:srgbClr val="17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6280" y="1883664"/>
            <a:ext cx="64008" cy="64008"/>
          </a:xfrm>
          <a:prstGeom prst="ellipse">
            <a:avLst/>
          </a:prstGeom>
          <a:solidFill>
            <a:srgbClr val="FF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72584" y="1883664"/>
            <a:ext cx="64008" cy="64008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18888" y="1883664"/>
            <a:ext cx="64008" cy="64008"/>
          </a:xfrm>
          <a:prstGeom prst="ellipse">
            <a:avLst/>
          </a:prstGeom>
          <a:solidFill>
            <a:srgbClr val="88E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65776" y="1847088"/>
            <a:ext cx="22311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3ADB7"/>
                </a:solidFill>
                <a:latin typeface="Inter"/>
              </a:rPr>
              <a:t>Credential / College Portal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1847088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 spc="25">
                <a:solidFill>
                  <a:srgbClr val="D5FF6D"/>
                </a:solidFill>
                <a:latin typeface="Inter"/>
              </a:rPr>
              <a:t>UNLOCKED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221284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Inter Display"/>
              </a:rPr>
              <a:t>College Portal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26864" y="2551176"/>
            <a:ext cx="841248" cy="256032"/>
          </a:xfrm>
          <a:prstGeom prst="roundRect">
            <a:avLst/>
          </a:prstGeom>
          <a:solidFill>
            <a:srgbClr val="17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18303" y="2606040"/>
            <a:ext cx="65836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45">
                <a:solidFill>
                  <a:srgbClr val="6CE5E8"/>
                </a:solidFill>
                <a:latin typeface="Inter"/>
              </a:rPr>
              <a:t>WEBSITE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36008" y="3026664"/>
            <a:ext cx="10058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35">
                <a:solidFill>
                  <a:srgbClr val="74808B"/>
                </a:solidFill>
                <a:latin typeface="Inter"/>
              </a:rPr>
              <a:t>USERNAME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26864" y="3209544"/>
            <a:ext cx="2907792" cy="356616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3319272"/>
            <a:ext cx="2057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3ADB7"/>
                </a:solidFill>
                <a:latin typeface="DejaVu Sans Mono"/>
              </a:rPr>
              <a:t>akhil@example.test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6008" y="3703320"/>
            <a:ext cx="10058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35">
                <a:solidFill>
                  <a:srgbClr val="74808B"/>
                </a:solidFill>
                <a:latin typeface="Inter"/>
              </a:rPr>
              <a:t>PASSWORD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26864" y="3886200"/>
            <a:ext cx="2907792" cy="356616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3995928"/>
            <a:ext cx="2057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3ADB7"/>
                </a:solidFill>
                <a:latin typeface="DejaVu Sans Mono"/>
              </a:rPr>
              <a:t>••••••••••••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0024" y="3995928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D5FF6D"/>
                </a:solidFill>
                <a:latin typeface="Inter"/>
              </a:rPr>
              <a:t>SHOW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36008" y="4379976"/>
            <a:ext cx="10058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35">
                <a:solidFill>
                  <a:srgbClr val="74808B"/>
                </a:solidFill>
                <a:latin typeface="Inter"/>
              </a:rPr>
              <a:t>URL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626864" y="4562856"/>
            <a:ext cx="2907792" cy="356616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0" y="4672584"/>
            <a:ext cx="2057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3ADB7"/>
                </a:solidFill>
                <a:latin typeface="DejaVu Sans Mono"/>
              </a:rPr>
              <a:t>portal.example.test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26864" y="5239512"/>
            <a:ext cx="2907792" cy="347472"/>
          </a:xfrm>
          <a:prstGeom prst="roundRect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81728" y="5340096"/>
            <a:ext cx="277977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 i="0" spc="40">
                <a:solidFill>
                  <a:srgbClr val="0B0D10"/>
                </a:solidFill>
                <a:latin typeface="Inter"/>
              </a:rPr>
              <a:t>COPY SELECTED FIELD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83296" y="1755648"/>
            <a:ext cx="3456432" cy="4187952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01583" y="1773936"/>
            <a:ext cx="3419856" cy="310896"/>
          </a:xfrm>
          <a:prstGeom prst="rect">
            <a:avLst/>
          </a:prstGeom>
          <a:solidFill>
            <a:srgbClr val="17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238744" y="1883664"/>
            <a:ext cx="64008" cy="64008"/>
          </a:xfrm>
          <a:prstGeom prst="ellipse">
            <a:avLst/>
          </a:prstGeom>
          <a:solidFill>
            <a:srgbClr val="FF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85048" y="1883664"/>
            <a:ext cx="64008" cy="64008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531352" y="1883664"/>
            <a:ext cx="64008" cy="64008"/>
          </a:xfrm>
          <a:prstGeom prst="ellipse">
            <a:avLst/>
          </a:prstGeom>
          <a:solidFill>
            <a:srgbClr val="88E3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78240" y="1847088"/>
            <a:ext cx="2176272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3ADB7"/>
                </a:solidFill>
                <a:latin typeface="Inter"/>
              </a:rPr>
              <a:t>Security center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42448" y="1847088"/>
            <a:ext cx="9144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 b="1" i="0" spc="25">
                <a:solidFill>
                  <a:srgbClr val="D5FF6D"/>
                </a:solidFill>
                <a:latin typeface="Inter"/>
              </a:rPr>
              <a:t>LOCAL ANALYSIS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2212848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F7FA"/>
                </a:solidFill>
                <a:latin typeface="Inter Display"/>
              </a:rPr>
              <a:t>Health review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0183" y="2496312"/>
            <a:ext cx="2651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A3ADB7"/>
                </a:solidFill>
                <a:latin typeface="Inter"/>
              </a:rPr>
              <a:t>Findings from your unlocked vault</a:t>
            </a:r>
          </a:p>
        </p:txBody>
      </p:sp>
      <p:sp>
        <p:nvSpPr>
          <p:cNvPr id="61" name="Oval 60"/>
          <p:cNvSpPr/>
          <p:nvPr/>
        </p:nvSpPr>
        <p:spPr>
          <a:xfrm>
            <a:off x="8330183" y="2880360"/>
            <a:ext cx="1005840" cy="1005840"/>
          </a:xfrm>
          <a:prstGeom prst="ellipse">
            <a:avLst/>
          </a:prstGeom>
          <a:solidFill>
            <a:srgbClr val="1D252E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rc 61"/>
          <p:cNvSpPr/>
          <p:nvPr/>
        </p:nvSpPr>
        <p:spPr>
          <a:xfrm>
            <a:off x="8430768" y="2980944"/>
            <a:ext cx="804672" cy="804672"/>
          </a:xfrm>
          <a:prstGeom prst="arc">
            <a:avLst/>
          </a:prstGeom>
          <a:noFill/>
          <a:ln w="12700">
            <a:solidFill>
              <a:srgbClr val="D5F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57616" y="3182112"/>
            <a:ext cx="9509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5F7FA"/>
                </a:solidFill>
                <a:latin typeface="Inter Display"/>
              </a:rPr>
              <a:t>82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75904" y="3657600"/>
            <a:ext cx="932688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50" b="1" i="0" spc="20">
                <a:solidFill>
                  <a:srgbClr val="74808B"/>
                </a:solidFill>
                <a:latin typeface="Inter"/>
              </a:rPr>
              <a:t>ILLUSTRATIVE</a:t>
            </a:r>
          </a:p>
        </p:txBody>
      </p:sp>
      <p:sp>
        <p:nvSpPr>
          <p:cNvPr id="65" name="Oval 64"/>
          <p:cNvSpPr/>
          <p:nvPr/>
        </p:nvSpPr>
        <p:spPr>
          <a:xfrm>
            <a:off x="9537192" y="4087368"/>
            <a:ext cx="109728" cy="109728"/>
          </a:xfrm>
          <a:prstGeom prst="ellipse">
            <a:avLst/>
          </a:prstGeom>
          <a:solidFill>
            <a:srgbClr val="FF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29216" y="4050791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5F7FA"/>
                </a:solidFill>
                <a:latin typeface="Inter"/>
              </a:rPr>
              <a:t>Password reuse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29216" y="4233672"/>
            <a:ext cx="1143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A3ADB7"/>
                </a:solidFill>
                <a:latin typeface="Inter"/>
              </a:rPr>
              <a:t>2 records</a:t>
            </a:r>
          </a:p>
        </p:txBody>
      </p:sp>
      <p:sp>
        <p:nvSpPr>
          <p:cNvPr id="68" name="Oval 67"/>
          <p:cNvSpPr/>
          <p:nvPr/>
        </p:nvSpPr>
        <p:spPr>
          <a:xfrm>
            <a:off x="9537192" y="4526280"/>
            <a:ext cx="109728" cy="109728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29216" y="4489704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5F7FA"/>
                </a:solidFill>
                <a:latin typeface="Inter"/>
              </a:rPr>
              <a:t>Weak password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29216" y="4672584"/>
            <a:ext cx="1143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A3ADB7"/>
                </a:solidFill>
                <a:latin typeface="Inter"/>
              </a:rPr>
              <a:t>1 record</a:t>
            </a:r>
          </a:p>
        </p:txBody>
      </p:sp>
      <p:sp>
        <p:nvSpPr>
          <p:cNvPr id="71" name="Oval 70"/>
          <p:cNvSpPr/>
          <p:nvPr/>
        </p:nvSpPr>
        <p:spPr>
          <a:xfrm>
            <a:off x="9537192" y="4965192"/>
            <a:ext cx="109728" cy="109728"/>
          </a:xfrm>
          <a:prstGeom prst="ellipse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29216" y="4928616"/>
            <a:ext cx="13441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5F7FA"/>
                </a:solidFill>
                <a:latin typeface="Inter"/>
              </a:rPr>
              <a:t>Missing URL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29216" y="5111496"/>
            <a:ext cx="11430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30" b="0" i="0">
                <a:solidFill>
                  <a:srgbClr val="A3ADB7"/>
                </a:solidFill>
                <a:latin typeface="Inter"/>
              </a:rPr>
              <a:t>1 record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94560" y="6044184"/>
            <a:ext cx="7863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 spc="40">
                <a:solidFill>
                  <a:srgbClr val="74808B"/>
                </a:solidFill>
                <a:latin typeface="Inter"/>
              </a:rPr>
              <a:t>ILLUSTRATIVE SCREENS • COUNTS AND SCORE ARE MOCK VALUES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21792" y="6547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FF6D"/>
                </a:solidFill>
                <a:latin typeface="Inter Display"/>
              </a:rPr>
              <a:t>14x27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53312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0">
                <a:solidFill>
                  <a:srgbClr val="74808B"/>
                </a:solidFill>
                <a:latin typeface="Inter"/>
              </a:rPr>
              <a:t>PRODUCT VISION • WEB APP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3ADB7"/>
                </a:solidFill>
                <a:latin typeface="DejaVu Sa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5FF6D"/>
                </a:solidFill>
                <a:latin typeface="Inter"/>
              </a:rPr>
              <a:t>10 / PROOF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7FA"/>
                </a:solidFill>
                <a:latin typeface="Inter Display"/>
              </a:rPr>
              <a:t>Trust must be demonstrated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ADB7"/>
                </a:solidFill>
                <a:latin typeface="Inter"/>
              </a:rPr>
              <a:t>Define what “done” means before treating the web app as ready for real credentials.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55648"/>
            <a:ext cx="3401568" cy="16459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56816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5FF6D"/>
                </a:solidFill>
                <a:latin typeface="DejaVu San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920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5F7FA"/>
                </a:solidFill>
                <a:latin typeface="Inter Display"/>
              </a:rPr>
              <a:t>Crypto correctness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ADB7"/>
                </a:solidFill>
                <a:latin typeface="Inter"/>
              </a:rPr>
              <a:t>Wrong key, tampered ciphertext, nonce handling and version rejection.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9067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40">
                <a:solidFill>
                  <a:srgbClr val="D5FF6D"/>
                </a:solidFill>
                <a:latin typeface="Inter"/>
              </a:rPr>
              <a:t>ACCEPTANCE 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55648"/>
            <a:ext cx="3401568" cy="16459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956816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CE5E8"/>
                </a:solidFill>
                <a:latin typeface="DejaVu Sa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5776" y="1920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5F7FA"/>
                </a:solidFill>
                <a:latin typeface="Inter Display"/>
              </a:rPr>
              <a:t>Storage inspection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95728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ADB7"/>
                </a:solidFill>
                <a:latin typeface="Inter"/>
              </a:rPr>
              <a:t>Verify persisted records contain ciphertext—not plaintext fields.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09067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40">
                <a:solidFill>
                  <a:srgbClr val="6CE5E8"/>
                </a:solidFill>
                <a:latin typeface="Inter"/>
              </a:rPr>
              <a:t>ACCEPTANCE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755648"/>
            <a:ext cx="3401568" cy="16459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956816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C76B"/>
                </a:solidFill>
                <a:latin typeface="DejaVu Sans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920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5F7FA"/>
                </a:solidFill>
                <a:latin typeface="Inter Display"/>
              </a:rPr>
              <a:t>Vault lifecycle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395728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ADB7"/>
                </a:solidFill>
                <a:latin typeface="Inter"/>
              </a:rPr>
              <a:t>Create, unlock, lock, timeout, process restart and recovery paths.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09067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40">
                <a:solidFill>
                  <a:srgbClr val="FFC76B"/>
                </a:solidFill>
                <a:latin typeface="Inter"/>
              </a:rPr>
              <a:t>ACCEPTANCE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" y="3749039"/>
            <a:ext cx="3401568" cy="16459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950207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CE5E8"/>
                </a:solidFill>
                <a:latin typeface="DejaVu Sans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91363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5F7FA"/>
                </a:solidFill>
                <a:latin typeface="Inter Display"/>
              </a:rPr>
              <a:t>Backup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38912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ADB7"/>
                </a:solidFill>
                <a:latin typeface="Inter"/>
              </a:rPr>
              <a:t>Wrong password, corrupted file, interrupted export and restore.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84064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40">
                <a:solidFill>
                  <a:srgbClr val="6CE5E8"/>
                </a:solidFill>
                <a:latin typeface="Inter"/>
              </a:rPr>
              <a:t>ACCEPTANCE GATE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49039"/>
            <a:ext cx="3401568" cy="16459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3950207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D5FF6D"/>
                </a:solidFill>
                <a:latin typeface="DejaVu Sans Mon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5776" y="391363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5F7FA"/>
                </a:solidFill>
                <a:latin typeface="Inter Display"/>
              </a:rPr>
              <a:t>Browser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38912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ADB7"/>
                </a:solidFill>
                <a:latin typeface="Inter"/>
              </a:rPr>
              <a:t>Origin matching, extension permissions and no unintended auto-submit.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5084064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40">
                <a:solidFill>
                  <a:srgbClr val="D5FF6D"/>
                </a:solidFill>
                <a:latin typeface="Inter"/>
              </a:rPr>
              <a:t>ACCEPTANCE GATE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01583" y="3749039"/>
            <a:ext cx="3401568" cy="164592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3950207"/>
            <a:ext cx="347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C76B"/>
                </a:solidFill>
                <a:latin typeface="DejaVu Sans Mono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913631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40" b="1" i="0">
                <a:solidFill>
                  <a:srgbClr val="F5F7FA"/>
                </a:solidFill>
                <a:latin typeface="Inter Display"/>
              </a:rPr>
              <a:t>Usability &amp; a11y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438912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3ADB7"/>
                </a:solidFill>
                <a:latin typeface="Inter"/>
              </a:rPr>
              <a:t>Small screens, keyboard flow, screen readers and clear error states.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5084064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0" b="1" i="0" spc="40">
                <a:solidFill>
                  <a:srgbClr val="FFC76B"/>
                </a:solidFill>
                <a:latin typeface="Inter"/>
              </a:rPr>
              <a:t>ACCEPTANCE GATE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" y="5715000"/>
            <a:ext cx="10771632" cy="384048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5843016"/>
            <a:ext cx="10378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 i="0" spc="28">
                <a:solidFill>
                  <a:srgbClr val="FFC76B"/>
                </a:solidFill>
                <a:latin typeface="Inter"/>
              </a:rPr>
              <a:t>CURRENT PRESENTATION STATUS  /  WEB APP IN DEVELOPMENT • TEST RESULTS MUST BE ADDED AFTER EXECUTION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1792" y="6547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FF6D"/>
                </a:solidFill>
                <a:latin typeface="Inter Display"/>
              </a:rPr>
              <a:t>14x27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3312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0">
                <a:solidFill>
                  <a:srgbClr val="74808B"/>
                </a:solidFill>
                <a:latin typeface="Inter"/>
              </a:rPr>
              <a:t>PRODUCT VISION • WEB 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3ADB7"/>
                </a:solidFill>
                <a:latin typeface="DejaVu Sa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5FF6D"/>
                </a:solidFill>
                <a:latin typeface="Inter"/>
              </a:rPr>
              <a:t>11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7FA"/>
                </a:solidFill>
                <a:latin typeface="Inter Display"/>
              </a:rPr>
              <a:t>Ship the trust foundation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ADB7"/>
                </a:solidFill>
                <a:latin typeface="Inter"/>
              </a:rPr>
              <a:t>A phased path from a usable web vault to a dependable password-management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532888" cy="251460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968" y="2194560"/>
            <a:ext cx="1188720" cy="256032"/>
          </a:xfrm>
          <a:prstGeom prst="roundRect">
            <a:avLst/>
          </a:prstGeom>
          <a:solidFill>
            <a:srgbClr val="17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49424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45">
                <a:solidFill>
                  <a:srgbClr val="D5FF6D"/>
                </a:solidFill>
                <a:latin typeface="Inter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88336"/>
            <a:ext cx="2084831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F5F7FA"/>
                </a:solidFill>
                <a:latin typeface="Inter Display"/>
              </a:rPr>
              <a:t>Web app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337560"/>
            <a:ext cx="208483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A3ADB7"/>
                </a:solidFill>
                <a:latin typeface="Inter"/>
              </a:rPr>
              <a:t>Core UI, vault lifecycle, encrypted persistence, credential CRUD and password generation.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4151376"/>
            <a:ext cx="502920" cy="45720"/>
          </a:xfrm>
          <a:prstGeom prst="rect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1965960"/>
            <a:ext cx="2532888" cy="251460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03320" y="2194560"/>
            <a:ext cx="1188720" cy="256032"/>
          </a:xfrm>
          <a:prstGeom prst="roundRect">
            <a:avLst/>
          </a:prstGeom>
          <a:solidFill>
            <a:srgbClr val="17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2249424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45">
                <a:solidFill>
                  <a:srgbClr val="6CE5E8"/>
                </a:solidFill>
                <a:latin typeface="Inter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688336"/>
            <a:ext cx="2084831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F5F7FA"/>
                </a:solidFill>
                <a:latin typeface="Inter Display"/>
              </a:rPr>
              <a:t>Trust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337560"/>
            <a:ext cx="208483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A3ADB7"/>
                </a:solidFill>
                <a:latin typeface="Inter"/>
              </a:rPr>
              <a:t>Security center, collections, encrypted backup/restore, error handling and threat-model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4151376"/>
            <a:ext cx="502920" cy="45720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18504" y="1965960"/>
            <a:ext cx="2532888" cy="251460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19672" y="2194560"/>
            <a:ext cx="1188720" cy="256032"/>
          </a:xfrm>
          <a:prstGeom prst="roundRect">
            <a:avLst/>
          </a:prstGeom>
          <a:solidFill>
            <a:srgbClr val="17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2249424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45">
                <a:solidFill>
                  <a:srgbClr val="FFC76B"/>
                </a:solidFill>
                <a:latin typeface="Inter"/>
              </a:rPr>
              <a:t>THEN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688336"/>
            <a:ext cx="2084831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F5F7FA"/>
                </a:solidFill>
                <a:latin typeface="Inter Display"/>
              </a:rPr>
              <a:t>Browser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337560"/>
            <a:ext cx="208483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A3ADB7"/>
                </a:solidFill>
                <a:latin typeface="Inter"/>
              </a:rPr>
              <a:t>Autofill/save extension, origin matching, consent-led flows and permission review.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9672" y="4151376"/>
            <a:ext cx="502920" cy="45720"/>
          </a:xfrm>
          <a:prstGeom prst="rect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34856" y="1965960"/>
            <a:ext cx="2532888" cy="2514600"/>
          </a:xfrm>
          <a:prstGeom prst="roundRect">
            <a:avLst/>
          </a:prstGeom>
          <a:solidFill>
            <a:srgbClr val="12161B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336024" y="2194560"/>
            <a:ext cx="1188720" cy="256032"/>
          </a:xfrm>
          <a:prstGeom prst="roundRect">
            <a:avLst/>
          </a:prstGeom>
          <a:solidFill>
            <a:srgbClr val="17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7464" y="2249424"/>
            <a:ext cx="10058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 spc="45">
                <a:solidFill>
                  <a:srgbClr val="FF7185"/>
                </a:solidFill>
                <a:latin typeface="Inter"/>
              </a:rPr>
              <a:t>BEFORE RELEASE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2688336"/>
            <a:ext cx="2084831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40" b="1" i="0">
                <a:solidFill>
                  <a:srgbClr val="F5F7FA"/>
                </a:solidFill>
                <a:latin typeface="Inter Display"/>
              </a:rP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36024" y="3337560"/>
            <a:ext cx="2084831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A3ADB7"/>
                </a:solidFill>
                <a:latin typeface="Inter"/>
              </a:rPr>
              <a:t>Cross-browser checks, accessibility, dependency review, security testing and transparent limits.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36024" y="4151376"/>
            <a:ext cx="502920" cy="45720"/>
          </a:xfrm>
          <a:prstGeom prst="rect">
            <a:avLst/>
          </a:prstGeom>
          <a:solidFill>
            <a:srgbClr val="FF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029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5FF6D"/>
                </a:solidFill>
                <a:latin typeface="Inter"/>
              </a:rPr>
              <a:t>Guiding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56231" y="5001768"/>
            <a:ext cx="9052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F7FA"/>
                </a:solidFill>
                <a:latin typeface="Inter"/>
              </a:rPr>
              <a:t>No feature is “done” because it looks done. Each milestone needs evidence from tests and real-browser behavior.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82472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74808B"/>
                </a:solidFill>
                <a:latin typeface="Inter"/>
              </a:rPr>
              <a:t>Roadmap sequencing is directional; no delivery dates or adoption numbers are implied.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6547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FF6D"/>
                </a:solidFill>
                <a:latin typeface="Inter Display"/>
              </a:rPr>
              <a:t>14x27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3312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0">
                <a:solidFill>
                  <a:srgbClr val="74808B"/>
                </a:solidFill>
                <a:latin typeface="Inter"/>
              </a:rPr>
              <a:t>PRODUCT VISION • WEB 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3ADB7"/>
                </a:solidFill>
                <a:latin typeface="DejaVu Sa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spc="90">
                <a:solidFill>
                  <a:srgbClr val="D5FF6D"/>
                </a:solidFill>
                <a:latin typeface="Inter"/>
              </a:rPr>
              <a:t>12 / DEMO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5F7FA"/>
                </a:solidFill>
                <a:latin typeface="Inter Display"/>
              </a:rPr>
              <a:t>Show the value in five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3ADB7"/>
                </a:solidFill>
                <a:latin typeface="Inter"/>
              </a:rPr>
              <a:t>Use fictional accounts and test secrets only. Let the product tell the story through real workflows.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0120" y="1920240"/>
            <a:ext cx="0" cy="3529584"/>
          </a:xfrm>
          <a:prstGeom prst="line">
            <a:avLst/>
          </a:prstGeom>
          <a:ln w="2286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49808" y="1956816"/>
            <a:ext cx="429768" cy="429768"/>
          </a:xfrm>
          <a:prstGeom prst="ellipse">
            <a:avLst/>
          </a:prstGeom>
          <a:solidFill>
            <a:srgbClr val="1D252E"/>
          </a:solidFill>
          <a:ln w="12700">
            <a:solidFill>
              <a:srgbClr val="D5F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29968"/>
            <a:ext cx="429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D5FF6D"/>
                </a:solidFill>
                <a:latin typeface="DejaVu Sa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965960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Inter Display"/>
              </a:rPr>
              <a:t>Create a 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93008" y="1975104"/>
            <a:ext cx="44348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Explain the master password and local key flow.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651760"/>
            <a:ext cx="429768" cy="429768"/>
          </a:xfrm>
          <a:prstGeom prst="ellipse">
            <a:avLst/>
          </a:prstGeom>
          <a:solidFill>
            <a:srgbClr val="1D252E"/>
          </a:solidFill>
          <a:ln w="12700">
            <a:solidFill>
              <a:srgbClr val="6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24912"/>
            <a:ext cx="429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CE5E8"/>
                </a:solidFill>
                <a:latin typeface="DejaVu Sa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2660904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Inter Display"/>
              </a:rPr>
              <a:t>Add a credential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670048"/>
            <a:ext cx="44348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Save a fictional portal login and generate a unique password.</a:t>
            </a:r>
          </a:p>
        </p:txBody>
      </p:sp>
      <p:sp>
        <p:nvSpPr>
          <p:cNvPr id="14" name="Oval 13"/>
          <p:cNvSpPr/>
          <p:nvPr/>
        </p:nvSpPr>
        <p:spPr>
          <a:xfrm>
            <a:off x="749808" y="3346704"/>
            <a:ext cx="429768" cy="429768"/>
          </a:xfrm>
          <a:prstGeom prst="ellipse">
            <a:avLst/>
          </a:prstGeom>
          <a:solidFill>
            <a:srgbClr val="1D252E"/>
          </a:solidFill>
          <a:ln w="12700">
            <a:solidFill>
              <a:srgbClr val="FFC7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419856"/>
            <a:ext cx="429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C76B"/>
                </a:solidFill>
                <a:latin typeface="DejaVu San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355848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Inter Display"/>
              </a:rPr>
              <a:t>Find a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3364992"/>
            <a:ext cx="44348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Add a weak/reused test password and run the local security check.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4041648"/>
            <a:ext cx="429768" cy="429768"/>
          </a:xfrm>
          <a:prstGeom prst="ellipse">
            <a:avLst/>
          </a:prstGeom>
          <a:solidFill>
            <a:srgbClr val="1D252E"/>
          </a:solidFill>
          <a:ln w="12700">
            <a:solidFill>
              <a:srgbClr val="D5F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114800"/>
            <a:ext cx="429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D5FF6D"/>
                </a:solidFill>
                <a:latin typeface="DejaVu Sans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4050791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Inter Display"/>
              </a:rPr>
              <a:t>Fix 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3008" y="4059935"/>
            <a:ext cx="44348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Replace the test password and explain the updated finding.</a:t>
            </a:r>
          </a:p>
        </p:txBody>
      </p:sp>
      <p:sp>
        <p:nvSpPr>
          <p:cNvPr id="22" name="Oval 21"/>
          <p:cNvSpPr/>
          <p:nvPr/>
        </p:nvSpPr>
        <p:spPr>
          <a:xfrm>
            <a:off x="749808" y="4736592"/>
            <a:ext cx="429768" cy="429768"/>
          </a:xfrm>
          <a:prstGeom prst="ellipse">
            <a:avLst/>
          </a:prstGeom>
          <a:solidFill>
            <a:srgbClr val="1D252E"/>
          </a:solidFill>
          <a:ln w="12700">
            <a:solidFill>
              <a:srgbClr val="6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809744"/>
            <a:ext cx="42976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6CE5E8"/>
                </a:solidFill>
                <a:latin typeface="DejaVu Sans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4745736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F7FA"/>
                </a:solidFill>
                <a:latin typeface="Inter Display"/>
              </a:rPr>
              <a:t>Close the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4754879"/>
            <a:ext cx="44348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A3ADB7"/>
                </a:solidFill>
                <a:latin typeface="Inter"/>
              </a:rPr>
              <a:t>Export an encrypted backup, lock the vault and show the locked state.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1947672"/>
            <a:ext cx="3154680" cy="3630168"/>
          </a:xfrm>
          <a:prstGeom prst="roundRect">
            <a:avLst/>
          </a:prstGeom>
          <a:solidFill>
            <a:srgbClr val="171D24"/>
          </a:solidFill>
          <a:ln w="12700">
            <a:solidFill>
              <a:srgbClr val="2A3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40496" y="224942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65">
                <a:solidFill>
                  <a:srgbClr val="D5FF6D"/>
                </a:solidFill>
                <a:latin typeface="Inter"/>
              </a:rPr>
              <a:t>DEMO DISCIPLINE</a:t>
            </a:r>
          </a:p>
        </p:txBody>
      </p:sp>
      <p:sp>
        <p:nvSpPr>
          <p:cNvPr id="28" name="Oval 27"/>
          <p:cNvSpPr/>
          <p:nvPr/>
        </p:nvSpPr>
        <p:spPr>
          <a:xfrm>
            <a:off x="8540496" y="2761488"/>
            <a:ext cx="73152" cy="73152"/>
          </a:xfrm>
          <a:prstGeom prst="ellipse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41664" y="2688336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ADB7"/>
                </a:solidFill>
                <a:latin typeface="Inter"/>
              </a:rPr>
              <a:t>Use only fictional data.</a:t>
            </a:r>
          </a:p>
        </p:txBody>
      </p:sp>
      <p:sp>
        <p:nvSpPr>
          <p:cNvPr id="30" name="Oval 29"/>
          <p:cNvSpPr/>
          <p:nvPr/>
        </p:nvSpPr>
        <p:spPr>
          <a:xfrm>
            <a:off x="8540496" y="3273552"/>
            <a:ext cx="73152" cy="73152"/>
          </a:xfrm>
          <a:prstGeom prst="ellipse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41664" y="3200400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ADB7"/>
                </a:solidFill>
                <a:latin typeface="Inter"/>
              </a:rPr>
              <a:t>Do not show real API keys or live credentials.</a:t>
            </a:r>
          </a:p>
        </p:txBody>
      </p:sp>
      <p:sp>
        <p:nvSpPr>
          <p:cNvPr id="32" name="Oval 31"/>
          <p:cNvSpPr/>
          <p:nvPr/>
        </p:nvSpPr>
        <p:spPr>
          <a:xfrm>
            <a:off x="8540496" y="3785616"/>
            <a:ext cx="73152" cy="73152"/>
          </a:xfrm>
          <a:prstGeom prst="ellipse">
            <a:avLst/>
          </a:prstGeom>
          <a:solidFill>
            <a:srgbClr val="FFC7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41664" y="3712464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ADB7"/>
                </a:solidFill>
                <a:latin typeface="Inter"/>
              </a:rPr>
              <a:t>Explain what is encrypted and what is still a browser risk.</a:t>
            </a:r>
          </a:p>
        </p:txBody>
      </p:sp>
      <p:sp>
        <p:nvSpPr>
          <p:cNvPr id="34" name="Oval 33"/>
          <p:cNvSpPr/>
          <p:nvPr/>
        </p:nvSpPr>
        <p:spPr>
          <a:xfrm>
            <a:off x="8540496" y="4297680"/>
            <a:ext cx="73152" cy="73152"/>
          </a:xfrm>
          <a:prstGeom prst="ellipse">
            <a:avLst/>
          </a:prstGeom>
          <a:solidFill>
            <a:srgbClr val="FF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1664" y="4224528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ADB7"/>
                </a:solidFill>
                <a:latin typeface="Inter"/>
              </a:rPr>
              <a:t>Label planned features as planned.</a:t>
            </a:r>
          </a:p>
        </p:txBody>
      </p:sp>
      <p:sp>
        <p:nvSpPr>
          <p:cNvPr id="36" name="Oval 35"/>
          <p:cNvSpPr/>
          <p:nvPr/>
        </p:nvSpPr>
        <p:spPr>
          <a:xfrm>
            <a:off x="8540496" y="4809744"/>
            <a:ext cx="73152" cy="73152"/>
          </a:xfrm>
          <a:prstGeom prst="ellipse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41664" y="4736592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A3ADB7"/>
                </a:solidFill>
                <a:latin typeface="Inter"/>
              </a:rPr>
              <a:t>Never imply the product has passed an audit unless it has.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" y="6473952"/>
            <a:ext cx="11000232" cy="0"/>
          </a:xfrm>
          <a:prstGeom prst="line">
            <a:avLst/>
          </a:prstGeom>
          <a:ln w="8890">
            <a:solidFill>
              <a:srgbClr val="2A32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1792" y="6547104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5FF6D"/>
                </a:solidFill>
                <a:latin typeface="Inter Display"/>
              </a:rPr>
              <a:t>14x27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3312" y="6547104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30">
                <a:solidFill>
                  <a:srgbClr val="74808B"/>
                </a:solidFill>
                <a:latin typeface="Inter"/>
              </a:rPr>
              <a:t>PRODUCT VISION • WEB 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82528" y="652881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3ADB7"/>
                </a:solidFill>
                <a:latin typeface="DejaVu San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43000" y="1261872"/>
            <a:ext cx="3017520" cy="3017520"/>
          </a:xfrm>
          <a:prstGeom prst="ellipse">
            <a:avLst/>
          </a:prstGeom>
          <a:noFill/>
          <a:ln w="12700">
            <a:solidFill>
              <a:srgbClr val="1F2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08175" y="1527047"/>
            <a:ext cx="2487168" cy="2487168"/>
          </a:xfrm>
          <a:prstGeom prst="ellipse">
            <a:avLst/>
          </a:prstGeom>
          <a:noFill/>
          <a:ln w="12700">
            <a:solidFill>
              <a:srgbClr val="1F2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64207" y="1783079"/>
            <a:ext cx="1975104" cy="1975104"/>
          </a:xfrm>
          <a:prstGeom prst="ellipse">
            <a:avLst/>
          </a:prstGeom>
          <a:noFill/>
          <a:ln w="12700">
            <a:solidFill>
              <a:srgbClr val="1F2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20239" y="2039111"/>
            <a:ext cx="1463040" cy="1463040"/>
          </a:xfrm>
          <a:prstGeom prst="ellipse">
            <a:avLst/>
          </a:prstGeom>
          <a:noFill/>
          <a:ln w="12700">
            <a:solidFill>
              <a:srgbClr val="D5F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2450592"/>
            <a:ext cx="658368" cy="658368"/>
          </a:xfrm>
          <a:prstGeom prst="ellipse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51176" y="2670048"/>
            <a:ext cx="219456" cy="219456"/>
          </a:xfrm>
          <a:prstGeom prst="ellipse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24328" y="2843784"/>
            <a:ext cx="73152" cy="384048"/>
          </a:xfrm>
          <a:prstGeom prst="rect">
            <a:avLst/>
          </a:prstGeom>
          <a:solidFill>
            <a:srgbClr val="0B0D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73736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5F7FA"/>
                </a:solidFill>
                <a:latin typeface="Inter Display"/>
              </a:rPr>
              <a:t>14x27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523744"/>
            <a:ext cx="576072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5F7FA"/>
                </a:solidFill>
                <a:latin typeface="Inter Display"/>
              </a:rPr>
              <a:t>Every secret.
One vault. Your control.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7488" y="3858768"/>
            <a:ext cx="658368" cy="50292"/>
          </a:xfrm>
          <a:prstGeom prst="rect">
            <a:avLst/>
          </a:prstGeom>
          <a:solidFill>
            <a:srgbClr val="D5F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4160520"/>
            <a:ext cx="5394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3ADB7"/>
                </a:solidFill>
                <a:latin typeface="Inter"/>
              </a:rPr>
              <a:t>A privacy-first password manager concept,
built around clarity, control and verified security.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5394960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spc="65">
                <a:solidFill>
                  <a:srgbClr val="D5FF6D"/>
                </a:solidFill>
                <a:latin typeface="Inter"/>
              </a:rPr>
              <a:t>QUESTIONS  /  FEEDBACK  /  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5769864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 spc="50">
                <a:solidFill>
                  <a:srgbClr val="74808B"/>
                </a:solidFill>
                <a:latin typeface="Inter"/>
              </a:rPr>
              <a:t>WEB APP • IN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3ADB7"/>
                </a:solidFill>
                <a:latin typeface="DejaVu Sans Mono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14x27 — Product Vision &amp; Web App Direction</dc:title>
  <dc:subject>Professional product concept presentation for 14x27 password manager</dc:subject>
  <dc:creator>14x27</dc:creator>
  <cp:keywords>14x27, password manager, web app, privacy, security, product concept</cp:keywords>
  <dc:description>Concept presentation. Planned features and architecture are clearly identified as in development.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